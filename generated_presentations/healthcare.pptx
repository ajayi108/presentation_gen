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we'll explore the critical shifts in healthcare impacting our business. We're seeing unprecedented technological growth, a strong push towards value over volume, and patients demanding more tailored services. Recent global events have also underscored the need for resilient and adaptable healthcare systems.</a:t>
            </a:r>
          </a:p>
          <a:p/>
          <a:p>
            <a:r>
              <a:t>Image credit: Nappy | Profile: https://unsplash.com/@nappystudio?utm_source=ai_presentation_generator&amp;utm_medium=referral | Photo: https://unsplash.com/photos/a-close-up-of-a-hand-on-a-laptop-heGTlwA705U?utm_source=ai_presentation_generator&amp;utm_medium=referral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transformation is not just a buzzword; it's a fundamental shift. AI is improving clinical decisions, telemedicine is breaking down geographical barriers, and connected devices are empowering individuals to manage their health. Blockchain technology also offers promising solutions for secure and transparent data exchange, which is crucial for stakeholder trust.</a:t>
            </a:r>
          </a:p>
          <a:p/>
          <a:p>
            <a:r>
              <a:t>Image credit: EqualStock | Profile: https://unsplash.com/@equalstock?utm_source=ai_presentation_generator&amp;utm_medium=referral | Photo: https://unsplash.com/photos/workers-wear-hair-nets-while-using-computers-TJQkegGsQqY?utm_source=ai_presentation_generator&amp;utm_medium=referral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economic perspective, several factors present significant opportunities. The aging demographic globally ensures a consistent demand for chronic disease management. Emerging markets are ripe for healthcare infrastructure development, and we're seeing substantial investment in innovative health technologies. A strategic shift towards preventative care also promises long-term cost efficiencies and better population health.</a:t>
            </a:r>
          </a:p>
          <a:p/>
          <a:p>
            <a:r>
              <a:t>Image credit: Marek Studzinski | Profile: https://unsplash.com/@jccards?utm_source=ai_presentation_generator&amp;utm_medium=referral | Photo: https://unsplash.com/photos/a-pile-of-money-with-a-stethoscope-on-top-of-it-HEVFLEnGPlc?utm_source=ai_presentation_generator&amp;utm_medium=referral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heart of healthcare is the patient. Personalized medicine, tailored to individual genetic profiles, is revolutionizing treatment. Engaging patients through intuitive platforms is key to adherence and better health. We must also prioritize health equity, ensuring quality care is accessible to everyone, and constantly measure our outcomes to drive continuous improvement.</a:t>
            </a:r>
          </a:p>
          <a:p/>
          <a:p>
            <a:r>
              <a:t>Image credit: Fotos | Profile: https://unsplash.com/@fotospk?utm_source=ai_presentation_generator&amp;utm_medium=referral | Photo: https://unsplash.com/photos/a-doctor-with-her-hands-up--vTAxo5hXMQ?utm_source=ai_presentation_generator&amp;utm_medium=referral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regulatory landscape is constantly evolving and presents significant challenges. We must stay abreast of data privacy laws like GDPR and HIPAA. The approval pathways for new medical innovations are rigorous, and ethical considerations, especially with AI and genetics, require careful navigation. A strong cybersecurity posture is non-negotiable to protect sensitive patient data.</a:t>
            </a:r>
          </a:p>
          <a:p/>
          <a:p>
            <a:r>
              <a:t>Image credit: Mina Rad | Profile: https://unsplash.com/@miinrad?utm_source=ai_presentation_generator&amp;utm_medium=referral | Photo: https://unsplash.com/photos/two-medical-professionals-are-having-a-discussion-UYBAbwaqNIg?utm_source=ai_presentation_generator&amp;utm_medium=referral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thrive, we must embrace several strategic imperatives. Collaborating across sectors will create more comprehensive solutions. Continuous investment in R&amp;D is vital for staying competitive. Developing and retaining skilled talent is crucial, and finally, adopting agile strategies will allow us to adapt quickly to the fast-changing healthcare environment.</a:t>
            </a:r>
          </a:p>
          <a:p/>
          <a:p>
            <a:r>
              <a:t>Image credit: BoliviaInteligente | Profile: https://unsplash.com/@boliviainteligente?utm_source=ai_presentation_generator&amp;utm_medium=referral | Photo: https://unsplash.com/photos/a-black-and-gold-maze-with-the-number-4200-in-it-ZoqFo6vuC9M?utm_source=ai_presentation_generator&amp;utm_medium=referral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itle 1"/>
          <p:cNvSpPr>
            <a:spLocks noGrp="1"/>
          </p:cNvSpPr>
          <p:nvPr>
            <p:ph type="ctrTitle"/>
          </p:nvPr>
        </p:nvSpPr>
        <p:spPr/>
        <p:txBody>
          <a:bodyPr/>
          <a:lstStyle/>
          <a:p>
            <a:pPr>
              <a:defRPr sz="2800" b="1">
                <a:solidFill>
                  <a:srgbClr val="FFFFFF"/>
                </a:solidFill>
              </a:defRPr>
            </a:pPr>
            <a:r>
              <a:t>Navigating the Future of Healthcare: Strategic Imperatives for Business Growth</a:t>
            </a:r>
          </a:p>
        </p:txBody>
      </p:sp>
      <p:sp>
        <p:nvSpPr>
          <p:cNvPr id="3" name="Subtitle 2"/>
          <p:cNvSpPr>
            <a:spLocks noGrp="1"/>
          </p:cNvSpPr>
          <p:nvPr>
            <p:ph type="subTitle" idx="1"/>
          </p:nvPr>
        </p:nvSpPr>
        <p:spPr/>
        <p:txBody>
          <a:bodyPr/>
          <a:lstStyle/>
          <a:p>
            <a:pPr>
              <a:defRPr sz="1600">
                <a:solidFill>
                  <a:srgbClr val="F6F0E8"/>
                </a:solidFill>
              </a:defRPr>
            </a:pPr>
            <a:r>
              <a:t>Understanding market dynamics and leveraging innovation to drive sustainable value in the evolving healthcare landscape.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498DB"/>
        </a:solidFill>
        <a:effectLst/>
      </p:bgPr>
    </p:bg>
    <p:spTree>
      <p:nvGrpSpPr>
        <p:cNvPr id="1" name=""/>
        <p:cNvGrpSpPr/>
        <p:nvPr/>
      </p:nvGrpSpPr>
      <p:grpSpPr/>
      <p:sp>
        <p:nvSpPr>
          <p:cNvPr id="2" name="TextBox 1"/>
          <p:cNvSpPr txBox="1"/>
          <p:nvPr/>
        </p:nvSpPr>
        <p:spPr>
          <a:xfrm>
            <a:off x="548640" y="411480"/>
            <a:ext cx="10972800" cy="594360"/>
          </a:xfrm>
          <a:prstGeom prst="rect">
            <a:avLst/>
          </a:prstGeom>
          <a:noFill/>
        </p:spPr>
        <p:txBody>
          <a:bodyPr wrap="none">
            <a:spAutoFit/>
          </a:bodyPr>
          <a:lstStyle/>
          <a:p>
            <a:pPr>
              <a:defRPr sz="2400" b="1">
                <a:solidFill>
                  <a:srgbClr val="2C3E50"/>
                </a:solidFill>
              </a:defRPr>
            </a:pPr>
            <a:r>
              <a:t>Current Healthcare Landscape &amp; Business Imperatives</a:t>
            </a:r>
          </a:p>
        </p:txBody>
      </p:sp>
      <p:sp>
        <p:nvSpPr>
          <p:cNvPr id="3" name="TextBox 2"/>
          <p:cNvSpPr txBox="1"/>
          <p:nvPr/>
        </p:nvSpPr>
        <p:spPr>
          <a:xfrm>
            <a:off x="640080" y="1234440"/>
            <a:ext cx="4937760" cy="4297680"/>
          </a:xfrm>
          <a:prstGeom prst="rect">
            <a:avLst/>
          </a:prstGeom>
          <a:noFill/>
        </p:spPr>
        <p:txBody>
          <a:bodyPr wrap="square">
            <a:spAutoFit/>
          </a:bodyPr>
          <a:lstStyle/>
          <a:p>
            <a:pPr>
              <a:spcAft>
                <a:spcPts val="1000"/>
              </a:spcAft>
              <a:defRPr sz="2000">
                <a:solidFill>
                  <a:srgbClr val="2E2A25"/>
                </a:solidFill>
              </a:defRPr>
            </a:pPr>
            <a:r>
              <a:t>Rapid technological advancements reshaping care delivery.</a:t>
            </a:r>
          </a:p>
          <a:p>
            <a:pPr>
              <a:defRPr sz="2000">
                <a:solidFill>
                  <a:srgbClr val="2E2A25"/>
                </a:solidFill>
              </a:defRPr>
            </a:pPr>
            <a:r>
              <a:t>Increasing demand for value-based care models.</a:t>
            </a:r>
          </a:p>
          <a:p>
            <a:pPr>
              <a:defRPr sz="2000">
                <a:solidFill>
                  <a:srgbClr val="2E2A25"/>
                </a:solidFill>
              </a:defRPr>
            </a:pPr>
            <a:r>
              <a:t>Shifting patient expectations towards personalized experiences.</a:t>
            </a:r>
          </a:p>
          <a:p>
            <a:pPr>
              <a:defRPr sz="2000">
                <a:solidFill>
                  <a:srgbClr val="2E2A25"/>
                </a:solidFill>
              </a:defRPr>
            </a:pPr>
            <a:r>
              <a:t>Global health crises highlighting system vulnerabilities.</a:t>
            </a:r>
          </a:p>
        </p:txBody>
      </p:sp>
      <p:pic>
        <p:nvPicPr>
          <p:cNvPr id="4" name="Picture 3" descr="image.jpg"/>
          <p:cNvPicPr>
            <a:picLocks noChangeAspect="1"/>
          </p:cNvPicPr>
          <p:nvPr/>
        </p:nvPicPr>
        <p:blipFill>
          <a:blip r:embed="rId2"/>
          <a:stretch>
            <a:fillRect/>
          </a:stretch>
        </p:blipFill>
        <p:spPr>
          <a:xfrm>
            <a:off x="6035040" y="1234440"/>
            <a:ext cx="5394960" cy="347472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C3E50"/>
                </a:solidFill>
              </a:defRPr>
            </a:pPr>
            <a:r>
              <a:t>Photo: Nappy on Unsplash</a:t>
            </a:r>
          </a:p>
        </p:txBody>
      </p:sp>
      <p:sp>
        <p:nvSpPr>
          <p:cNvPr id="6" name="Rectangle 5"/>
          <p:cNvSpPr/>
          <p:nvPr/>
        </p:nvSpPr>
        <p:spPr>
          <a:xfrm>
            <a:off x="548640" y="6080760"/>
            <a:ext cx="10881360" cy="137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3498DB"/>
        </a:solidFill>
        <a:effectLst/>
      </p:bgPr>
    </p:bg>
    <p:spTree>
      <p:nvGrpSpPr>
        <p:cNvPr id="1" name=""/>
        <p:cNvGrpSpPr/>
        <p:nvPr/>
      </p:nvGrpSpPr>
      <p:grpSpPr/>
      <p:sp>
        <p:nvSpPr>
          <p:cNvPr id="2" name="TextBox 1"/>
          <p:cNvSpPr txBox="1"/>
          <p:nvPr/>
        </p:nvSpPr>
        <p:spPr>
          <a:xfrm>
            <a:off x="548640" y="411480"/>
            <a:ext cx="10972800" cy="594360"/>
          </a:xfrm>
          <a:prstGeom prst="rect">
            <a:avLst/>
          </a:prstGeom>
          <a:noFill/>
        </p:spPr>
        <p:txBody>
          <a:bodyPr wrap="none">
            <a:spAutoFit/>
          </a:bodyPr>
          <a:lstStyle/>
          <a:p>
            <a:pPr>
              <a:defRPr sz="2400" b="1">
                <a:solidFill>
                  <a:srgbClr val="2C3E50"/>
                </a:solidFill>
              </a:defRPr>
            </a:pPr>
            <a:r>
              <a:t>Leveraging Digital Transformation &amp; Innovation</a:t>
            </a:r>
          </a:p>
        </p:txBody>
      </p:sp>
      <p:sp>
        <p:nvSpPr>
          <p:cNvPr id="3" name="TextBox 2"/>
          <p:cNvSpPr txBox="1"/>
          <p:nvPr/>
        </p:nvSpPr>
        <p:spPr>
          <a:xfrm>
            <a:off x="640080" y="1234440"/>
            <a:ext cx="4937760" cy="4297680"/>
          </a:xfrm>
          <a:prstGeom prst="rect">
            <a:avLst/>
          </a:prstGeom>
          <a:noFill/>
        </p:spPr>
        <p:txBody>
          <a:bodyPr wrap="square">
            <a:spAutoFit/>
          </a:bodyPr>
          <a:lstStyle/>
          <a:p>
            <a:pPr>
              <a:spcAft>
                <a:spcPts val="1000"/>
              </a:spcAft>
              <a:defRPr sz="2000">
                <a:solidFill>
                  <a:srgbClr val="2E2A25"/>
                </a:solidFill>
              </a:defRPr>
            </a:pPr>
            <a:r>
              <a:t>AI and machine learning optimizing diagnostics and treatment.</a:t>
            </a:r>
          </a:p>
          <a:p>
            <a:pPr>
              <a:defRPr sz="2000">
                <a:solidFill>
                  <a:srgbClr val="2E2A25"/>
                </a:solidFill>
              </a:defRPr>
            </a:pPr>
            <a:r>
              <a:t>Telemedicine expanding access and reducing costs.</a:t>
            </a:r>
          </a:p>
          <a:p>
            <a:pPr>
              <a:defRPr sz="2000">
                <a:solidFill>
                  <a:srgbClr val="2E2A25"/>
                </a:solidFill>
              </a:defRPr>
            </a:pPr>
            <a:r>
              <a:t>Wearable tech and IoT enabling proactive health management.</a:t>
            </a:r>
          </a:p>
          <a:p>
            <a:pPr>
              <a:defRPr sz="2000">
                <a:solidFill>
                  <a:srgbClr val="2E2A25"/>
                </a:solidFill>
              </a:defRPr>
            </a:pPr>
            <a:r>
              <a:t>Blockchain enhancing data security and interoperability.</a:t>
            </a:r>
          </a:p>
        </p:txBody>
      </p:sp>
      <p:pic>
        <p:nvPicPr>
          <p:cNvPr id="4" name="Picture 3" descr="image.jpg"/>
          <p:cNvPicPr>
            <a:picLocks noChangeAspect="1"/>
          </p:cNvPicPr>
          <p:nvPr/>
        </p:nvPicPr>
        <p:blipFill>
          <a:blip r:embed="rId2"/>
          <a:stretch>
            <a:fillRect/>
          </a:stretch>
        </p:blipFill>
        <p:spPr>
          <a:xfrm>
            <a:off x="6035040" y="1234440"/>
            <a:ext cx="5394960" cy="347472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C3E50"/>
                </a:solidFill>
              </a:defRPr>
            </a:pPr>
            <a:r>
              <a:t>Photo: EqualStock on Unsplash</a:t>
            </a:r>
          </a:p>
        </p:txBody>
      </p:sp>
      <p:sp>
        <p:nvSpPr>
          <p:cNvPr id="6" name="Rectangle 5"/>
          <p:cNvSpPr/>
          <p:nvPr/>
        </p:nvSpPr>
        <p:spPr>
          <a:xfrm>
            <a:off x="548640" y="6080760"/>
            <a:ext cx="10881360" cy="137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3498DB"/>
        </a:solidFill>
        <a:effectLst/>
      </p:bgPr>
    </p:bg>
    <p:spTree>
      <p:nvGrpSpPr>
        <p:cNvPr id="1" name=""/>
        <p:cNvGrpSpPr/>
        <p:nvPr/>
      </p:nvGrpSpPr>
      <p:grpSpPr/>
      <p:sp>
        <p:nvSpPr>
          <p:cNvPr id="2" name="TextBox 1"/>
          <p:cNvSpPr txBox="1"/>
          <p:nvPr/>
        </p:nvSpPr>
        <p:spPr>
          <a:xfrm>
            <a:off x="548640" y="411480"/>
            <a:ext cx="10972800" cy="594360"/>
          </a:xfrm>
          <a:prstGeom prst="rect">
            <a:avLst/>
          </a:prstGeom>
          <a:noFill/>
        </p:spPr>
        <p:txBody>
          <a:bodyPr wrap="none">
            <a:spAutoFit/>
          </a:bodyPr>
          <a:lstStyle/>
          <a:p>
            <a:pPr>
              <a:defRPr sz="2400" b="1">
                <a:solidFill>
                  <a:srgbClr val="2C3E50"/>
                </a:solidFill>
              </a:defRPr>
            </a:pPr>
            <a:r>
              <a:t>Economic Drivers &amp; Market Opportunities</a:t>
            </a:r>
          </a:p>
        </p:txBody>
      </p:sp>
      <p:sp>
        <p:nvSpPr>
          <p:cNvPr id="3" name="TextBox 2"/>
          <p:cNvSpPr txBox="1"/>
          <p:nvPr/>
        </p:nvSpPr>
        <p:spPr>
          <a:xfrm>
            <a:off x="640080" y="1234440"/>
            <a:ext cx="4937760" cy="4297680"/>
          </a:xfrm>
          <a:prstGeom prst="rect">
            <a:avLst/>
          </a:prstGeom>
          <a:noFill/>
        </p:spPr>
        <p:txBody>
          <a:bodyPr wrap="square">
            <a:spAutoFit/>
          </a:bodyPr>
          <a:lstStyle/>
          <a:p>
            <a:pPr>
              <a:spcAft>
                <a:spcPts val="1000"/>
              </a:spcAft>
              <a:defRPr sz="2000">
                <a:solidFill>
                  <a:srgbClr val="2E2A25"/>
                </a:solidFill>
              </a:defRPr>
            </a:pPr>
            <a:r>
              <a:t>Aging global population driving demand for chronic care.</a:t>
            </a:r>
          </a:p>
          <a:p>
            <a:pPr>
              <a:defRPr sz="2000">
                <a:solidFill>
                  <a:srgbClr val="2E2A25"/>
                </a:solidFill>
              </a:defRPr>
            </a:pPr>
            <a:r>
              <a:t>Emerging markets offering new growth avenues.</a:t>
            </a:r>
          </a:p>
          <a:p>
            <a:pPr>
              <a:defRPr sz="2000">
                <a:solidFill>
                  <a:srgbClr val="2E2A25"/>
                </a:solidFill>
              </a:defRPr>
            </a:pPr>
            <a:r>
              <a:t>Investment surge in biotech and digital health startups.</a:t>
            </a:r>
          </a:p>
          <a:p>
            <a:pPr>
              <a:defRPr sz="2000">
                <a:solidFill>
                  <a:srgbClr val="2E2A25"/>
                </a:solidFill>
              </a:defRPr>
            </a:pPr>
            <a:r>
              <a:t>Focus on preventative care reducing long-term costs.</a:t>
            </a:r>
          </a:p>
        </p:txBody>
      </p:sp>
      <p:pic>
        <p:nvPicPr>
          <p:cNvPr id="4" name="Picture 3" descr="image.jpg"/>
          <p:cNvPicPr>
            <a:picLocks noChangeAspect="1"/>
          </p:cNvPicPr>
          <p:nvPr/>
        </p:nvPicPr>
        <p:blipFill>
          <a:blip r:embed="rId2"/>
          <a:stretch>
            <a:fillRect/>
          </a:stretch>
        </p:blipFill>
        <p:spPr>
          <a:xfrm>
            <a:off x="6035040" y="1234440"/>
            <a:ext cx="5394960" cy="347472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C3E50"/>
                </a:solidFill>
              </a:defRPr>
            </a:pPr>
            <a:r>
              <a:t>Photo: Marek Studzinski on Unsplash</a:t>
            </a:r>
          </a:p>
        </p:txBody>
      </p:sp>
      <p:sp>
        <p:nvSpPr>
          <p:cNvPr id="6" name="Rectangle 5"/>
          <p:cNvSpPr/>
          <p:nvPr/>
        </p:nvSpPr>
        <p:spPr>
          <a:xfrm>
            <a:off x="548640" y="6080760"/>
            <a:ext cx="10881360" cy="137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3498DB"/>
        </a:solidFill>
        <a:effectLst/>
      </p:bgPr>
    </p:bg>
    <p:spTree>
      <p:nvGrpSpPr>
        <p:cNvPr id="1" name=""/>
        <p:cNvGrpSpPr/>
        <p:nvPr/>
      </p:nvGrpSpPr>
      <p:grpSpPr/>
      <p:sp>
        <p:nvSpPr>
          <p:cNvPr id="2" name="TextBox 1"/>
          <p:cNvSpPr txBox="1"/>
          <p:nvPr/>
        </p:nvSpPr>
        <p:spPr>
          <a:xfrm>
            <a:off x="548640" y="411480"/>
            <a:ext cx="10972800" cy="594360"/>
          </a:xfrm>
          <a:prstGeom prst="rect">
            <a:avLst/>
          </a:prstGeom>
          <a:noFill/>
        </p:spPr>
        <p:txBody>
          <a:bodyPr wrap="none">
            <a:spAutoFit/>
          </a:bodyPr>
          <a:lstStyle/>
          <a:p>
            <a:pPr>
              <a:defRPr sz="2400" b="1">
                <a:solidFill>
                  <a:srgbClr val="2C3E50"/>
                </a:solidFill>
              </a:defRPr>
            </a:pPr>
            <a:r>
              <a:t>Enhancing Patient Experience &amp; Outcomes</a:t>
            </a:r>
          </a:p>
        </p:txBody>
      </p:sp>
      <p:sp>
        <p:nvSpPr>
          <p:cNvPr id="3" name="TextBox 2"/>
          <p:cNvSpPr txBox="1"/>
          <p:nvPr/>
        </p:nvSpPr>
        <p:spPr>
          <a:xfrm>
            <a:off x="640080" y="1234440"/>
            <a:ext cx="4937760" cy="4297680"/>
          </a:xfrm>
          <a:prstGeom prst="rect">
            <a:avLst/>
          </a:prstGeom>
          <a:noFill/>
        </p:spPr>
        <p:txBody>
          <a:bodyPr wrap="square">
            <a:spAutoFit/>
          </a:bodyPr>
          <a:lstStyle/>
          <a:p>
            <a:pPr>
              <a:spcAft>
                <a:spcPts val="1000"/>
              </a:spcAft>
              <a:defRPr sz="2000">
                <a:solidFill>
                  <a:srgbClr val="2E2A25"/>
                </a:solidFill>
              </a:defRPr>
            </a:pPr>
            <a:r>
              <a:t>Personalized medicine improving treatment efficacy.</a:t>
            </a:r>
          </a:p>
          <a:p>
            <a:pPr>
              <a:defRPr sz="2000">
                <a:solidFill>
                  <a:srgbClr val="2E2A25"/>
                </a:solidFill>
              </a:defRPr>
            </a:pPr>
            <a:r>
              <a:t>Patient engagement platforms fostering adherence.</a:t>
            </a:r>
          </a:p>
          <a:p>
            <a:pPr>
              <a:defRPr sz="2000">
                <a:solidFill>
                  <a:srgbClr val="2E2A25"/>
                </a:solidFill>
              </a:defRPr>
            </a:pPr>
            <a:r>
              <a:t>Focus on health equity and accessibility for all.</a:t>
            </a:r>
          </a:p>
          <a:p>
            <a:pPr>
              <a:defRPr sz="2000">
                <a:solidFill>
                  <a:srgbClr val="2E2A25"/>
                </a:solidFill>
              </a:defRPr>
            </a:pPr>
            <a:r>
              <a:t>Measuring outcomes for continuous quality improvement.</a:t>
            </a:r>
          </a:p>
        </p:txBody>
      </p:sp>
      <p:pic>
        <p:nvPicPr>
          <p:cNvPr id="4" name="Picture 3" descr="image.jpg"/>
          <p:cNvPicPr>
            <a:picLocks noChangeAspect="1"/>
          </p:cNvPicPr>
          <p:nvPr/>
        </p:nvPicPr>
        <p:blipFill>
          <a:blip r:embed="rId2"/>
          <a:stretch>
            <a:fillRect/>
          </a:stretch>
        </p:blipFill>
        <p:spPr>
          <a:xfrm>
            <a:off x="6035040" y="1234440"/>
            <a:ext cx="5394960" cy="347472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C3E50"/>
                </a:solidFill>
              </a:defRPr>
            </a:pPr>
            <a:r>
              <a:t>Photo: Fotos on Unsplash</a:t>
            </a:r>
          </a:p>
        </p:txBody>
      </p:sp>
      <p:sp>
        <p:nvSpPr>
          <p:cNvPr id="6" name="Rectangle 5"/>
          <p:cNvSpPr/>
          <p:nvPr/>
        </p:nvSpPr>
        <p:spPr>
          <a:xfrm>
            <a:off x="548640" y="6080760"/>
            <a:ext cx="10881360" cy="137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3498DB"/>
        </a:solidFill>
        <a:effectLst/>
      </p:bgPr>
    </p:bg>
    <p:spTree>
      <p:nvGrpSpPr>
        <p:cNvPr id="1" name=""/>
        <p:cNvGrpSpPr/>
        <p:nvPr/>
      </p:nvGrpSpPr>
      <p:grpSpPr/>
      <p:sp>
        <p:nvSpPr>
          <p:cNvPr id="2" name="TextBox 1"/>
          <p:cNvSpPr txBox="1"/>
          <p:nvPr/>
        </p:nvSpPr>
        <p:spPr>
          <a:xfrm>
            <a:off x="548640" y="411480"/>
            <a:ext cx="10972800" cy="594360"/>
          </a:xfrm>
          <a:prstGeom prst="rect">
            <a:avLst/>
          </a:prstGeom>
          <a:noFill/>
        </p:spPr>
        <p:txBody>
          <a:bodyPr wrap="none">
            <a:spAutoFit/>
          </a:bodyPr>
          <a:lstStyle/>
          <a:p>
            <a:pPr>
              <a:defRPr sz="2400" b="1">
                <a:solidFill>
                  <a:srgbClr val="2C3E50"/>
                </a:solidFill>
              </a:defRPr>
            </a:pPr>
            <a:r>
              <a:t>Navigating Regulatory Challenges &amp; Compliance</a:t>
            </a:r>
          </a:p>
        </p:txBody>
      </p:sp>
      <p:sp>
        <p:nvSpPr>
          <p:cNvPr id="3" name="TextBox 2"/>
          <p:cNvSpPr txBox="1"/>
          <p:nvPr/>
        </p:nvSpPr>
        <p:spPr>
          <a:xfrm>
            <a:off x="640080" y="1234440"/>
            <a:ext cx="4937760" cy="4297680"/>
          </a:xfrm>
          <a:prstGeom prst="rect">
            <a:avLst/>
          </a:prstGeom>
          <a:noFill/>
        </p:spPr>
        <p:txBody>
          <a:bodyPr wrap="square">
            <a:spAutoFit/>
          </a:bodyPr>
          <a:lstStyle/>
          <a:p>
            <a:pPr>
              <a:spcAft>
                <a:spcPts val="1000"/>
              </a:spcAft>
              <a:defRPr sz="2000">
                <a:solidFill>
                  <a:srgbClr val="2E2A25"/>
                </a:solidFill>
              </a:defRPr>
            </a:pPr>
            <a:r>
              <a:t>Evolving data privacy regulations (e.g., GDPR, HIPAA).</a:t>
            </a:r>
          </a:p>
          <a:p>
            <a:pPr>
              <a:defRPr sz="2000">
                <a:solidFill>
                  <a:srgbClr val="2E2A25"/>
                </a:solidFill>
              </a:defRPr>
            </a:pPr>
            <a:r>
              <a:t>Complex approval processes for new therapies and devices.</a:t>
            </a:r>
          </a:p>
          <a:p>
            <a:pPr>
              <a:defRPr sz="2000">
                <a:solidFill>
                  <a:srgbClr val="2E2A25"/>
                </a:solidFill>
              </a:defRPr>
            </a:pPr>
            <a:r>
              <a:t>Ethical considerations in AI and genetic technologies.</a:t>
            </a:r>
          </a:p>
          <a:p>
            <a:pPr>
              <a:defRPr sz="2000">
                <a:solidFill>
                  <a:srgbClr val="2E2A25"/>
                </a:solidFill>
              </a:defRPr>
            </a:pPr>
            <a:r>
              <a:t>Importance of robust cybersecurity frameworks.</a:t>
            </a:r>
          </a:p>
        </p:txBody>
      </p:sp>
      <p:pic>
        <p:nvPicPr>
          <p:cNvPr id="4" name="Picture 3" descr="image.jpg"/>
          <p:cNvPicPr>
            <a:picLocks noChangeAspect="1"/>
          </p:cNvPicPr>
          <p:nvPr/>
        </p:nvPicPr>
        <p:blipFill>
          <a:blip r:embed="rId2"/>
          <a:stretch>
            <a:fillRect/>
          </a:stretch>
        </p:blipFill>
        <p:spPr>
          <a:xfrm>
            <a:off x="6035040" y="1234440"/>
            <a:ext cx="5394960" cy="347472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C3E50"/>
                </a:solidFill>
              </a:defRPr>
            </a:pPr>
            <a:r>
              <a:t>Photo: Mina Rad on Unsplash</a:t>
            </a:r>
          </a:p>
        </p:txBody>
      </p:sp>
      <p:sp>
        <p:nvSpPr>
          <p:cNvPr id="6" name="Rectangle 5"/>
          <p:cNvSpPr/>
          <p:nvPr/>
        </p:nvSpPr>
        <p:spPr>
          <a:xfrm>
            <a:off x="548640" y="6080760"/>
            <a:ext cx="10881360" cy="137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498DB"/>
        </a:solidFill>
        <a:effectLst/>
      </p:bgPr>
    </p:bg>
    <p:spTree>
      <p:nvGrpSpPr>
        <p:cNvPr id="1" name=""/>
        <p:cNvGrpSpPr/>
        <p:nvPr/>
      </p:nvGrpSpPr>
      <p:grpSpPr/>
      <p:sp>
        <p:nvSpPr>
          <p:cNvPr id="2" name="TextBox 1"/>
          <p:cNvSpPr txBox="1"/>
          <p:nvPr/>
        </p:nvSpPr>
        <p:spPr>
          <a:xfrm>
            <a:off x="548640" y="411480"/>
            <a:ext cx="10972800" cy="594360"/>
          </a:xfrm>
          <a:prstGeom prst="rect">
            <a:avLst/>
          </a:prstGeom>
          <a:noFill/>
        </p:spPr>
        <p:txBody>
          <a:bodyPr wrap="none">
            <a:spAutoFit/>
          </a:bodyPr>
          <a:lstStyle/>
          <a:p>
            <a:pPr>
              <a:defRPr sz="2400" b="1">
                <a:solidFill>
                  <a:srgbClr val="2C3E50"/>
                </a:solidFill>
              </a:defRPr>
            </a:pPr>
            <a:r>
              <a:t>Strategic Imperatives &amp; Future Outlook</a:t>
            </a:r>
          </a:p>
        </p:txBody>
      </p:sp>
      <p:sp>
        <p:nvSpPr>
          <p:cNvPr id="3" name="TextBox 2"/>
          <p:cNvSpPr txBox="1"/>
          <p:nvPr/>
        </p:nvSpPr>
        <p:spPr>
          <a:xfrm>
            <a:off x="640080" y="1234440"/>
            <a:ext cx="4937760" cy="4297680"/>
          </a:xfrm>
          <a:prstGeom prst="rect">
            <a:avLst/>
          </a:prstGeom>
          <a:noFill/>
        </p:spPr>
        <p:txBody>
          <a:bodyPr wrap="square">
            <a:spAutoFit/>
          </a:bodyPr>
          <a:lstStyle/>
          <a:p>
            <a:pPr>
              <a:spcAft>
                <a:spcPts val="1000"/>
              </a:spcAft>
              <a:defRPr sz="2000">
                <a:solidFill>
                  <a:srgbClr val="2E2A25"/>
                </a:solidFill>
              </a:defRPr>
            </a:pPr>
            <a:r>
              <a:t>Foster cross-sector partnerships for holistic solutions.</a:t>
            </a:r>
          </a:p>
          <a:p>
            <a:pPr>
              <a:defRPr sz="2000">
                <a:solidFill>
                  <a:srgbClr val="2E2A25"/>
                </a:solidFill>
              </a:defRPr>
            </a:pPr>
            <a:r>
              <a:t>Invest in R&amp;D for breakthrough innovations.</a:t>
            </a:r>
          </a:p>
          <a:p>
            <a:pPr>
              <a:defRPr sz="2000">
                <a:solidFill>
                  <a:srgbClr val="2E2A25"/>
                </a:solidFill>
              </a:defRPr>
            </a:pPr>
            <a:r>
              <a:t>Prioritize workforce development and talent retention.</a:t>
            </a:r>
          </a:p>
          <a:p>
            <a:pPr>
              <a:defRPr sz="2000">
                <a:solidFill>
                  <a:srgbClr val="2E2A25"/>
                </a:solidFill>
              </a:defRPr>
            </a:pPr>
            <a:r>
              <a:t>Embrace agile strategies for rapid adaptation.</a:t>
            </a:r>
          </a:p>
        </p:txBody>
      </p:sp>
      <p:pic>
        <p:nvPicPr>
          <p:cNvPr id="4" name="Picture 3" descr="image.jpg"/>
          <p:cNvPicPr>
            <a:picLocks noChangeAspect="1"/>
          </p:cNvPicPr>
          <p:nvPr/>
        </p:nvPicPr>
        <p:blipFill>
          <a:blip r:embed="rId2"/>
          <a:stretch>
            <a:fillRect/>
          </a:stretch>
        </p:blipFill>
        <p:spPr>
          <a:xfrm>
            <a:off x="6035040" y="1234440"/>
            <a:ext cx="5394960" cy="347472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C3E50"/>
                </a:solidFill>
              </a:defRPr>
            </a:pPr>
            <a:r>
              <a:t>Photo: BoliviaInteligente on Unsplash</a:t>
            </a:r>
          </a:p>
        </p:txBody>
      </p:sp>
      <p:sp>
        <p:nvSpPr>
          <p:cNvPr id="6" name="Rectangle 5"/>
          <p:cNvSpPr/>
          <p:nvPr/>
        </p:nvSpPr>
        <p:spPr>
          <a:xfrm>
            <a:off x="548640" y="6080760"/>
            <a:ext cx="10881360" cy="137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FFFFFF"/>
                </a:solidFill>
              </a:defRPr>
            </a:pPr>
            <a:r>
              <a:t>Thank You</a:t>
            </a:r>
          </a:p>
        </p:txBody>
      </p:sp>
      <p:sp>
        <p:nvSpPr>
          <p:cNvPr id="3" name="TextBox 2"/>
          <p:cNvSpPr txBox="1"/>
          <p:nvPr/>
        </p:nvSpPr>
        <p:spPr>
          <a:xfrm>
            <a:off x="822960" y="2194560"/>
            <a:ext cx="10241280" cy="1280160"/>
          </a:xfrm>
          <a:prstGeom prst="rect">
            <a:avLst/>
          </a:prstGeom>
          <a:noFill/>
        </p:spPr>
        <p:txBody>
          <a:bodyPr wrap="none">
            <a:spAutoFit/>
          </a:bodyPr>
          <a:lstStyle/>
          <a:p>
            <a:pPr>
              <a:defRPr sz="2000">
                <a:solidFill>
                  <a:srgbClr val="F6F0E8"/>
                </a:solidFill>
              </a:defRPr>
            </a:pPr>
            <a:r>
              <a:t>Thank you for your time. Let's work together to shape a healthier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