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we embark on a fascinating journey into German culture. We'll start with a brief geographical and demographic context, then introduce some key cultural concepts we'll explore. We'll also touch upon common stereotypes and set the stage for what you'll learn.</a:t>
            </a:r>
          </a:p>
          <a:p/>
          <a:p>
            <a:r>
              <a:t>Image credit: Tobias | Profile: https://unsplash.com/@herrzett?utm_source=ai_presentation_generator&amp;utm_medium=referral | Photo: https://unsplash.com/photos/people-walking-near-white-concrete-building-during-daytime-MBVGXk_-4o0?utm_source=ai_presentation_generator&amp;utm_medium=referral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German history is incredibly rich and complex. We'll quickly trace its path from the Holy Roman Empire to modern reunification, highlighting how this history shaped its diverse regional identities. Understanding 'Heimat' – a deep sense of home and belonging – is crucial to grasping German national identity.</a:t>
            </a:r>
          </a:p>
          <a:p/>
          <a:p>
            <a:r>
              <a:t>Image credit: Michal Hajtas | Profile: https://unsplash.com/@michalhajtas?utm_source=ai_presentation_generator&amp;utm_medium=referral | Photo: https://unsplash.com/photos/a-large-group-of-people-walking-in-front-of-brandenburg-gate-with-columns-PyM0NZTyYp4?utm_source=ai_presentation_generator&amp;utm_medium=referral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German daily life is often characterized by punctuality and efficiency. We'll discuss the importance of order and rules, and how a direct communication style is often preferred. We'll also cover basic social customs and appropriate greetings for various situations.</a:t>
            </a:r>
          </a:p>
          <a:p/>
          <a:p>
            <a:r>
              <a:t>Image credit: Dima | Profile: https://unsplash.com/@dsk1306?utm_source=ai_presentation_generator&amp;utm_medium=referral | Photo: https://unsplash.com/photos/two-church-towers-and-a-golden-statue-on-column-cnYaZXulOgs?utm_source=ai_presentation_generator&amp;utm_medium=referral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Germany boasts a vibrant calendar of festivals and traditions. Beyond national holidays like Unity Day, we'll explore famous regional celebrations like Oktoberfest and Karneval. We'll also touch upon traditional crafts and the significant role of community clubs and associations.</a:t>
            </a:r>
          </a:p>
          <a:p/>
          <a:p>
            <a:r>
              <a:t>Image credit: cmophoto.net | Profile: https://unsplash.com/@cmophoto?utm_source=ai_presentation_generator&amp;utm_medium=referral | Photo: https://unsplash.com/photos/group-of-people-near-the-store-photography-xUg7Wn6bh4I?utm_source=ai_presentation_generator&amp;utm_medium=referral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Germany has made monumental contributions across arts, philosophy, and science. We'll highlight literary giants, the enduring legacy of classical composers, and the profound impact of German philosophers. We'll also briefly acknowledge Germany's history of scientific and engineering innovation.</a:t>
            </a:r>
          </a:p>
          <a:p/>
          <a:p>
            <a:r>
              <a:t>Image credit: Nodir Khalilov | Profile: https://unsplash.com/@nodirkh?utm_source=ai_presentation_generator&amp;utm_medium=referral | Photo: https://unsplash.com/photos/a-bridge-over-a-river-with-a-building-in-the-background-_liJLYth19g?utm_source=ai_presentation_generator&amp;utm_medium=referral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let's look at modern Germany. It's an economic powerhouse known for its industrial leadership and strong commitment to environmental sustainability. We'll discuss its evolving multicultural society and its significant role within the European Union and on the global stage.</a:t>
            </a:r>
          </a:p>
          <a:p/>
          <a:p>
            <a:r>
              <a:t>Image credit: Heliao | Profile: https://unsplash.com/@heliao?utm_source=ai_presentation_generator&amp;utm_medium=referral | Photo: https://unsplash.com/photos/city-skyline-with-a-tall-tower-at-dusk-Wlf0n_81J1U?utm_source=ai_presentation_generator&amp;utm_medium=referral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A2E2E"/>
        </a:solidFill>
        <a:effectLst/>
      </p:bgPr>
    </p:bg>
    <p:spTree>
      <p:nvGrpSpPr>
        <p:cNvPr id="1" name=""/>
        <p:cNvGrpSpPr/>
        <p:nvPr/>
      </p:nvGrpSpPr>
      <p:grpSpPr/>
      <p:sp>
        <p:nvSpPr>
          <p:cNvPr id="2" name="Rectangle 1"/>
          <p:cNvSpPr/>
          <p:nvPr/>
        </p:nvSpPr>
        <p:spPr>
          <a:xfrm>
            <a:off x="868680" y="868680"/>
            <a:ext cx="1463040" cy="146304"/>
          </a:xfrm>
          <a:prstGeom prst="rect">
            <a:avLst/>
          </a:prstGeom>
          <a:solidFill>
            <a:srgbClr val="FF7A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25880"/>
            <a:ext cx="10241280" cy="1645920"/>
          </a:xfrm>
          <a:prstGeom prst="rect">
            <a:avLst/>
          </a:prstGeom>
          <a:noFill/>
        </p:spPr>
        <p:txBody>
          <a:bodyPr wrap="square">
            <a:spAutoFit/>
          </a:bodyPr>
          <a:lstStyle/>
          <a:p>
            <a:pPr algn="l">
              <a:defRPr sz="3000" b="1">
                <a:solidFill>
                  <a:srgbClr val="FFFFFF"/>
                </a:solidFill>
              </a:defRPr>
            </a:pPr>
            <a:r>
              <a:t>Unveiling Germany: A Cultural Journey</a:t>
            </a:r>
          </a:p>
        </p:txBody>
      </p:sp>
      <p:sp>
        <p:nvSpPr>
          <p:cNvPr id="4" name="TextBox 3"/>
          <p:cNvSpPr txBox="1"/>
          <p:nvPr/>
        </p:nvSpPr>
        <p:spPr>
          <a:xfrm>
            <a:off x="1143000" y="3154680"/>
            <a:ext cx="9875520" cy="914400"/>
          </a:xfrm>
          <a:prstGeom prst="rect">
            <a:avLst/>
          </a:prstGeom>
          <a:noFill/>
        </p:spPr>
        <p:txBody>
          <a:bodyPr wrap="square">
            <a:spAutoFit/>
          </a:bodyPr>
          <a:lstStyle/>
          <a:p>
            <a:pPr algn="l">
              <a:defRPr sz="1700">
                <a:solidFill>
                  <a:srgbClr val="F6F0E8"/>
                </a:solidFill>
              </a:defRPr>
            </a:pPr>
            <a:r>
              <a:t>Explore the rich traditions, history, and modern innovations that define German culture.</a:t>
            </a:r>
          </a:p>
        </p:txBody>
      </p:sp>
      <p:sp>
        <p:nvSpPr>
          <p:cNvPr id="5" name="TextBox 4"/>
          <p:cNvSpPr txBox="1"/>
          <p:nvPr/>
        </p:nvSpPr>
        <p:spPr>
          <a:xfrm>
            <a:off x="1188720" y="4892040"/>
            <a:ext cx="9784080" cy="502920"/>
          </a:xfrm>
          <a:prstGeom prst="rect">
            <a:avLst/>
          </a:prstGeom>
          <a:noFill/>
        </p:spPr>
        <p:txBody>
          <a:bodyPr wrap="none">
            <a:spAutoFit/>
          </a:bodyPr>
          <a:lstStyle/>
          <a:p>
            <a:pPr algn="l">
              <a:defRPr sz="1300" b="1">
                <a:solidFill>
                  <a:srgbClr val="FFFFFF"/>
                </a:solidFill>
              </a:defRPr>
            </a:pPr>
            <a:r>
              <a:t>Aditya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1EC"/>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7A2E2E"/>
                </a:solidFill>
              </a:defRPr>
            </a:pPr>
            <a:r>
              <a:t>Welcome to Germany: An Introduction</a:t>
            </a:r>
          </a:p>
        </p:txBody>
      </p:sp>
      <p:sp>
        <p:nvSpPr>
          <p:cNvPr id="3" name="TextBox 2"/>
          <p:cNvSpPr txBox="1"/>
          <p:nvPr/>
        </p:nvSpPr>
        <p:spPr>
          <a:xfrm>
            <a:off x="6126480" y="1234440"/>
            <a:ext cx="4754880" cy="4297680"/>
          </a:xfrm>
          <a:prstGeom prst="rect">
            <a:avLst/>
          </a:prstGeom>
          <a:noFill/>
        </p:spPr>
        <p:txBody>
          <a:bodyPr wrap="square">
            <a:spAutoFit/>
          </a:bodyPr>
          <a:lstStyle/>
          <a:p>
            <a:pPr>
              <a:spcAft>
                <a:spcPts val="800"/>
              </a:spcAft>
              <a:defRPr sz="2000">
                <a:solidFill>
                  <a:srgbClr val="2F1D1D"/>
                </a:solidFill>
              </a:defRPr>
            </a:pPr>
            <a:r>
              <a:t>Geographic and demographic overview</a:t>
            </a:r>
          </a:p>
          <a:p>
            <a:pPr>
              <a:spcAft>
                <a:spcPts val="800"/>
              </a:spcAft>
              <a:defRPr sz="2000">
                <a:solidFill>
                  <a:srgbClr val="2F1D1D"/>
                </a:solidFill>
              </a:defRPr>
            </a:pPr>
            <a:r>
              <a:t>Introduction to key cultural concepts</a:t>
            </a:r>
          </a:p>
          <a:p>
            <a:pPr>
              <a:spcAft>
                <a:spcPts val="800"/>
              </a:spcAft>
              <a:defRPr sz="2000">
                <a:solidFill>
                  <a:srgbClr val="2F1D1D"/>
                </a:solidFill>
              </a:defRPr>
            </a:pPr>
            <a:r>
              <a:t>Dispelling common stereotypes</a:t>
            </a:r>
          </a:p>
          <a:p>
            <a:pPr>
              <a:spcAft>
                <a:spcPts val="800"/>
              </a:spcAft>
              <a:defRPr sz="2000">
                <a:solidFill>
                  <a:srgbClr val="2F1D1D"/>
                </a:solidFill>
              </a:defRPr>
            </a:pPr>
            <a:r>
              <a:t>What to expect from this presentation</a:t>
            </a:r>
          </a:p>
        </p:txBody>
      </p:sp>
      <p:pic>
        <p:nvPicPr>
          <p:cNvPr id="4" name="Picture 3" descr="image.jpg"/>
          <p:cNvPicPr>
            <a:picLocks noChangeAspect="1"/>
          </p:cNvPicPr>
          <p:nvPr/>
        </p:nvPicPr>
        <p:blipFill>
          <a:blip r:embed="rId2"/>
          <a:stretch>
            <a:fillRect/>
          </a:stretch>
        </p:blipFill>
        <p:spPr>
          <a:xfrm>
            <a:off x="640080" y="1234440"/>
            <a:ext cx="4754880" cy="356616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7A2E2E"/>
                </a:solidFill>
              </a:defRPr>
            </a:pPr>
            <a:r>
              <a:t>Photo: Tobias on Unsplash</a:t>
            </a:r>
          </a:p>
        </p:txBody>
      </p:sp>
      <p:sp>
        <p:nvSpPr>
          <p:cNvPr id="6" name="Rectangle 5"/>
          <p:cNvSpPr/>
          <p:nvPr/>
        </p:nvSpPr>
        <p:spPr>
          <a:xfrm>
            <a:off x="640080" y="6080760"/>
            <a:ext cx="10881360" cy="128016"/>
          </a:xfrm>
          <a:prstGeom prst="rect">
            <a:avLst/>
          </a:prstGeom>
          <a:solidFill>
            <a:srgbClr val="FF7A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1EC"/>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7A2E2E"/>
                </a:solidFill>
              </a:defRPr>
            </a:pPr>
            <a:r>
              <a:t>A Glimpse into German History and Identity</a:t>
            </a:r>
          </a:p>
        </p:txBody>
      </p:sp>
      <p:sp>
        <p:nvSpPr>
          <p:cNvPr id="3" name="TextBox 2"/>
          <p:cNvSpPr txBox="1"/>
          <p:nvPr/>
        </p:nvSpPr>
        <p:spPr>
          <a:xfrm>
            <a:off x="640080" y="1234440"/>
            <a:ext cx="4754880" cy="4297680"/>
          </a:xfrm>
          <a:prstGeom prst="rect">
            <a:avLst/>
          </a:prstGeom>
          <a:noFill/>
        </p:spPr>
        <p:txBody>
          <a:bodyPr wrap="square">
            <a:spAutoFit/>
          </a:bodyPr>
          <a:lstStyle/>
          <a:p>
            <a:pPr>
              <a:spcAft>
                <a:spcPts val="800"/>
              </a:spcAft>
              <a:defRPr sz="2000">
                <a:solidFill>
                  <a:srgbClr val="2F1D1D"/>
                </a:solidFill>
              </a:defRPr>
            </a:pPr>
            <a:r>
              <a:t>Brief historical timeline: Holy Roman Empire to reunification</a:t>
            </a:r>
          </a:p>
          <a:p>
            <a:pPr>
              <a:spcAft>
                <a:spcPts val="800"/>
              </a:spcAft>
              <a:defRPr sz="2000">
                <a:solidFill>
                  <a:srgbClr val="2F1D1D"/>
                </a:solidFill>
              </a:defRPr>
            </a:pPr>
            <a:r>
              <a:t>Regional diversity: Bavaria, Prussia, Hanseatic cities</a:t>
            </a:r>
          </a:p>
          <a:p>
            <a:pPr>
              <a:spcAft>
                <a:spcPts val="800"/>
              </a:spcAft>
              <a:defRPr sz="2000">
                <a:solidFill>
                  <a:srgbClr val="2F1D1D"/>
                </a:solidFill>
              </a:defRPr>
            </a:pPr>
            <a:r>
              <a:t>Influence of major historical events</a:t>
            </a:r>
          </a:p>
          <a:p>
            <a:pPr>
              <a:spcAft>
                <a:spcPts val="800"/>
              </a:spcAft>
              <a:defRPr sz="2000">
                <a:solidFill>
                  <a:srgbClr val="2F1D1D"/>
                </a:solidFill>
              </a:defRPr>
            </a:pPr>
            <a:r>
              <a:t>The concept of 'Heimat' and national identity</a:t>
            </a:r>
          </a:p>
        </p:txBody>
      </p:sp>
      <p:pic>
        <p:nvPicPr>
          <p:cNvPr id="4" name="Picture 3" descr="image.jpg"/>
          <p:cNvPicPr>
            <a:picLocks noChangeAspect="1"/>
          </p:cNvPicPr>
          <p:nvPr/>
        </p:nvPicPr>
        <p:blipFill>
          <a:blip r:embed="rId2"/>
          <a:stretch>
            <a:fillRect/>
          </a:stretch>
        </p:blipFill>
        <p:spPr>
          <a:xfrm>
            <a:off x="6126480" y="1234440"/>
            <a:ext cx="4754880" cy="356616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7A2E2E"/>
                </a:solidFill>
              </a:defRPr>
            </a:pPr>
            <a:r>
              <a:t>Photo: Michal Hajtas on Unsplash</a:t>
            </a:r>
          </a:p>
        </p:txBody>
      </p:sp>
      <p:sp>
        <p:nvSpPr>
          <p:cNvPr id="6" name="Rectangle 5"/>
          <p:cNvSpPr/>
          <p:nvPr/>
        </p:nvSpPr>
        <p:spPr>
          <a:xfrm>
            <a:off x="640080" y="6080760"/>
            <a:ext cx="10881360" cy="128016"/>
          </a:xfrm>
          <a:prstGeom prst="rect">
            <a:avLst/>
          </a:prstGeom>
          <a:solidFill>
            <a:srgbClr val="FF7A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1EC"/>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7A2E2E"/>
                </a:solidFill>
              </a:defRPr>
            </a:pPr>
            <a:r>
              <a:t>Daily Life, Values, and Social Etiquette</a:t>
            </a:r>
          </a:p>
        </p:txBody>
      </p:sp>
      <p:sp>
        <p:nvSpPr>
          <p:cNvPr id="3" name="TextBox 2"/>
          <p:cNvSpPr txBox="1"/>
          <p:nvPr/>
        </p:nvSpPr>
        <p:spPr>
          <a:xfrm>
            <a:off x="6126480" y="1234440"/>
            <a:ext cx="4754880" cy="4297680"/>
          </a:xfrm>
          <a:prstGeom prst="rect">
            <a:avLst/>
          </a:prstGeom>
          <a:noFill/>
        </p:spPr>
        <p:txBody>
          <a:bodyPr wrap="square">
            <a:spAutoFit/>
          </a:bodyPr>
          <a:lstStyle/>
          <a:p>
            <a:pPr>
              <a:spcAft>
                <a:spcPts val="800"/>
              </a:spcAft>
              <a:defRPr sz="2000">
                <a:solidFill>
                  <a:srgbClr val="2F1D1D"/>
                </a:solidFill>
              </a:defRPr>
            </a:pPr>
            <a:r>
              <a:t>Punctuality and efficiency in daily life</a:t>
            </a:r>
          </a:p>
          <a:p>
            <a:pPr>
              <a:spcAft>
                <a:spcPts val="800"/>
              </a:spcAft>
              <a:defRPr sz="2000">
                <a:solidFill>
                  <a:srgbClr val="2F1D1D"/>
                </a:solidFill>
              </a:defRPr>
            </a:pPr>
            <a:r>
              <a:t>Importance of order and rules</a:t>
            </a:r>
          </a:p>
          <a:p>
            <a:pPr>
              <a:spcAft>
                <a:spcPts val="800"/>
              </a:spcAft>
              <a:defRPr sz="2000">
                <a:solidFill>
                  <a:srgbClr val="2F1D1D"/>
                </a:solidFill>
              </a:defRPr>
            </a:pPr>
            <a:r>
              <a:t>Direct communication style</a:t>
            </a:r>
          </a:p>
          <a:p>
            <a:pPr>
              <a:spcAft>
                <a:spcPts val="800"/>
              </a:spcAft>
              <a:defRPr sz="2000">
                <a:solidFill>
                  <a:srgbClr val="2F1D1D"/>
                </a:solidFill>
              </a:defRPr>
            </a:pPr>
            <a:r>
              <a:t>Social customs and greetings</a:t>
            </a:r>
          </a:p>
        </p:txBody>
      </p:sp>
      <p:pic>
        <p:nvPicPr>
          <p:cNvPr id="4" name="Picture 3" descr="image.jpg"/>
          <p:cNvPicPr>
            <a:picLocks noChangeAspect="1"/>
          </p:cNvPicPr>
          <p:nvPr/>
        </p:nvPicPr>
        <p:blipFill>
          <a:blip r:embed="rId2"/>
          <a:stretch>
            <a:fillRect/>
          </a:stretch>
        </p:blipFill>
        <p:spPr>
          <a:xfrm>
            <a:off x="640080" y="1234440"/>
            <a:ext cx="4754880" cy="356616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7A2E2E"/>
                </a:solidFill>
              </a:defRPr>
            </a:pPr>
            <a:r>
              <a:t>Photo: Dima on Unsplash</a:t>
            </a:r>
          </a:p>
        </p:txBody>
      </p:sp>
      <p:sp>
        <p:nvSpPr>
          <p:cNvPr id="6" name="Rectangle 5"/>
          <p:cNvSpPr/>
          <p:nvPr/>
        </p:nvSpPr>
        <p:spPr>
          <a:xfrm>
            <a:off x="640080" y="6080760"/>
            <a:ext cx="10881360" cy="128016"/>
          </a:xfrm>
          <a:prstGeom prst="rect">
            <a:avLst/>
          </a:prstGeom>
          <a:solidFill>
            <a:srgbClr val="FF7A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1EC"/>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7A2E2E"/>
                </a:solidFill>
              </a:defRPr>
            </a:pPr>
            <a:r>
              <a:t>Festivals, Traditions, and Celebrations</a:t>
            </a:r>
          </a:p>
        </p:txBody>
      </p:sp>
      <p:sp>
        <p:nvSpPr>
          <p:cNvPr id="3" name="TextBox 2"/>
          <p:cNvSpPr txBox="1"/>
          <p:nvPr/>
        </p:nvSpPr>
        <p:spPr>
          <a:xfrm>
            <a:off x="640080" y="1234440"/>
            <a:ext cx="4754880" cy="4297680"/>
          </a:xfrm>
          <a:prstGeom prst="rect">
            <a:avLst/>
          </a:prstGeom>
          <a:noFill/>
        </p:spPr>
        <p:txBody>
          <a:bodyPr wrap="square">
            <a:spAutoFit/>
          </a:bodyPr>
          <a:lstStyle/>
          <a:p>
            <a:pPr>
              <a:spcAft>
                <a:spcPts val="800"/>
              </a:spcAft>
              <a:defRPr sz="2000">
                <a:solidFill>
                  <a:srgbClr val="2F1D1D"/>
                </a:solidFill>
              </a:defRPr>
            </a:pPr>
            <a:r>
              <a:t>Major national holidays: Unity Day, Christmas</a:t>
            </a:r>
          </a:p>
          <a:p>
            <a:pPr>
              <a:spcAft>
                <a:spcPts val="800"/>
              </a:spcAft>
              <a:defRPr sz="2000">
                <a:solidFill>
                  <a:srgbClr val="2F1D1D"/>
                </a:solidFill>
              </a:defRPr>
            </a:pPr>
            <a:r>
              <a:t>Regional festivals: Oktoberfest, Karneval</a:t>
            </a:r>
          </a:p>
          <a:p>
            <a:pPr>
              <a:spcAft>
                <a:spcPts val="800"/>
              </a:spcAft>
              <a:defRPr sz="2000">
                <a:solidFill>
                  <a:srgbClr val="2F1D1D"/>
                </a:solidFill>
              </a:defRPr>
            </a:pPr>
            <a:r>
              <a:t>Traditional crafts and folk customs</a:t>
            </a:r>
          </a:p>
          <a:p>
            <a:pPr>
              <a:spcAft>
                <a:spcPts val="800"/>
              </a:spcAft>
              <a:defRPr sz="2000">
                <a:solidFill>
                  <a:srgbClr val="2F1D1D"/>
                </a:solidFill>
              </a:defRPr>
            </a:pPr>
            <a:r>
              <a:t>The role of clubs and associations in community life</a:t>
            </a:r>
          </a:p>
        </p:txBody>
      </p:sp>
      <p:pic>
        <p:nvPicPr>
          <p:cNvPr id="4" name="Picture 3" descr="image.jpg"/>
          <p:cNvPicPr>
            <a:picLocks noChangeAspect="1"/>
          </p:cNvPicPr>
          <p:nvPr/>
        </p:nvPicPr>
        <p:blipFill>
          <a:blip r:embed="rId2"/>
          <a:stretch>
            <a:fillRect/>
          </a:stretch>
        </p:blipFill>
        <p:spPr>
          <a:xfrm>
            <a:off x="6126480" y="1234440"/>
            <a:ext cx="4754880" cy="356616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7A2E2E"/>
                </a:solidFill>
              </a:defRPr>
            </a:pPr>
            <a:r>
              <a:t>Photo: cmophoto.net on Unsplash</a:t>
            </a:r>
          </a:p>
        </p:txBody>
      </p:sp>
      <p:sp>
        <p:nvSpPr>
          <p:cNvPr id="6" name="Rectangle 5"/>
          <p:cNvSpPr/>
          <p:nvPr/>
        </p:nvSpPr>
        <p:spPr>
          <a:xfrm>
            <a:off x="640080" y="6080760"/>
            <a:ext cx="10881360" cy="128016"/>
          </a:xfrm>
          <a:prstGeom prst="rect">
            <a:avLst/>
          </a:prstGeom>
          <a:solidFill>
            <a:srgbClr val="FF7A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1EC"/>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7A2E2E"/>
                </a:solidFill>
              </a:defRPr>
            </a:pPr>
            <a:r>
              <a:t>German Contributions to Arts, Philosophy, and Science</a:t>
            </a:r>
          </a:p>
        </p:txBody>
      </p:sp>
      <p:sp>
        <p:nvSpPr>
          <p:cNvPr id="3" name="TextBox 2"/>
          <p:cNvSpPr txBox="1"/>
          <p:nvPr/>
        </p:nvSpPr>
        <p:spPr>
          <a:xfrm>
            <a:off x="6126480" y="1234440"/>
            <a:ext cx="4754880" cy="4297680"/>
          </a:xfrm>
          <a:prstGeom prst="rect">
            <a:avLst/>
          </a:prstGeom>
          <a:noFill/>
        </p:spPr>
        <p:txBody>
          <a:bodyPr wrap="square">
            <a:spAutoFit/>
          </a:bodyPr>
          <a:lstStyle/>
          <a:p>
            <a:pPr>
              <a:spcAft>
                <a:spcPts val="800"/>
              </a:spcAft>
              <a:defRPr sz="2000">
                <a:solidFill>
                  <a:srgbClr val="2F1D1D"/>
                </a:solidFill>
              </a:defRPr>
            </a:pPr>
            <a:r>
              <a:t>Literary giants: Goethe, Schiller, the Brothers Grimm</a:t>
            </a:r>
          </a:p>
          <a:p>
            <a:pPr>
              <a:spcAft>
                <a:spcPts val="800"/>
              </a:spcAft>
              <a:defRPr sz="2000">
                <a:solidFill>
                  <a:srgbClr val="2F1D1D"/>
                </a:solidFill>
              </a:defRPr>
            </a:pPr>
            <a:r>
              <a:t>Musical heritage: Bach, Beethoven, Wagner</a:t>
            </a:r>
          </a:p>
          <a:p>
            <a:pPr>
              <a:spcAft>
                <a:spcPts val="800"/>
              </a:spcAft>
              <a:defRPr sz="2000">
                <a:solidFill>
                  <a:srgbClr val="2F1D1D"/>
                </a:solidFill>
              </a:defRPr>
            </a:pPr>
            <a:r>
              <a:t>Philosophical thought: Kant, Hegel, Nietzsche</a:t>
            </a:r>
          </a:p>
          <a:p>
            <a:pPr>
              <a:spcAft>
                <a:spcPts val="800"/>
              </a:spcAft>
              <a:defRPr sz="2000">
                <a:solidFill>
                  <a:srgbClr val="2F1D1D"/>
                </a:solidFill>
              </a:defRPr>
            </a:pPr>
            <a:r>
              <a:t>Scientific and engineering innovations</a:t>
            </a:r>
          </a:p>
        </p:txBody>
      </p:sp>
      <p:pic>
        <p:nvPicPr>
          <p:cNvPr id="4" name="Picture 3" descr="image.jpg"/>
          <p:cNvPicPr>
            <a:picLocks noChangeAspect="1"/>
          </p:cNvPicPr>
          <p:nvPr/>
        </p:nvPicPr>
        <p:blipFill>
          <a:blip r:embed="rId2"/>
          <a:stretch>
            <a:fillRect/>
          </a:stretch>
        </p:blipFill>
        <p:spPr>
          <a:xfrm>
            <a:off x="640080" y="1234440"/>
            <a:ext cx="4754880" cy="356616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7A2E2E"/>
                </a:solidFill>
              </a:defRPr>
            </a:pPr>
            <a:r>
              <a:t>Photo: Nodir Khalilov on Unsplash</a:t>
            </a:r>
          </a:p>
        </p:txBody>
      </p:sp>
      <p:sp>
        <p:nvSpPr>
          <p:cNvPr id="6" name="Rectangle 5"/>
          <p:cNvSpPr/>
          <p:nvPr/>
        </p:nvSpPr>
        <p:spPr>
          <a:xfrm>
            <a:off x="640080" y="6080760"/>
            <a:ext cx="10881360" cy="128016"/>
          </a:xfrm>
          <a:prstGeom prst="rect">
            <a:avLst/>
          </a:prstGeom>
          <a:solidFill>
            <a:srgbClr val="FF7A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1EC"/>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7A2E2E"/>
                </a:solidFill>
              </a:defRPr>
            </a:pPr>
            <a:r>
              <a:t>Modern Germany: Innovation, Sustainability, and Global Role</a:t>
            </a:r>
          </a:p>
        </p:txBody>
      </p:sp>
      <p:sp>
        <p:nvSpPr>
          <p:cNvPr id="3" name="TextBox 2"/>
          <p:cNvSpPr txBox="1"/>
          <p:nvPr/>
        </p:nvSpPr>
        <p:spPr>
          <a:xfrm>
            <a:off x="640080" y="1234440"/>
            <a:ext cx="4754880" cy="4297680"/>
          </a:xfrm>
          <a:prstGeom prst="rect">
            <a:avLst/>
          </a:prstGeom>
          <a:noFill/>
        </p:spPr>
        <p:txBody>
          <a:bodyPr wrap="square">
            <a:spAutoFit/>
          </a:bodyPr>
          <a:lstStyle/>
          <a:p>
            <a:pPr>
              <a:spcAft>
                <a:spcPts val="800"/>
              </a:spcAft>
              <a:defRPr sz="2000">
                <a:solidFill>
                  <a:srgbClr val="2F1D1D"/>
                </a:solidFill>
              </a:defRPr>
            </a:pPr>
            <a:r>
              <a:t>Economic powerhouse and industrial leadership</a:t>
            </a:r>
          </a:p>
          <a:p>
            <a:pPr>
              <a:spcAft>
                <a:spcPts val="800"/>
              </a:spcAft>
              <a:defRPr sz="2000">
                <a:solidFill>
                  <a:srgbClr val="2F1D1D"/>
                </a:solidFill>
              </a:defRPr>
            </a:pPr>
            <a:r>
              <a:t>Commitment to environmental sustainability</a:t>
            </a:r>
          </a:p>
          <a:p>
            <a:pPr>
              <a:spcAft>
                <a:spcPts val="800"/>
              </a:spcAft>
              <a:defRPr sz="2000">
                <a:solidFill>
                  <a:srgbClr val="2F1D1D"/>
                </a:solidFill>
              </a:defRPr>
            </a:pPr>
            <a:r>
              <a:t>Multicultural society and integration</a:t>
            </a:r>
          </a:p>
          <a:p>
            <a:pPr>
              <a:spcAft>
                <a:spcPts val="800"/>
              </a:spcAft>
              <a:defRPr sz="2000">
                <a:solidFill>
                  <a:srgbClr val="2F1D1D"/>
                </a:solidFill>
              </a:defRPr>
            </a:pPr>
            <a:r>
              <a:t>Germany's role in the European Union and global affairs</a:t>
            </a:r>
          </a:p>
        </p:txBody>
      </p:sp>
      <p:pic>
        <p:nvPicPr>
          <p:cNvPr id="4" name="Picture 3" descr="image.jpg"/>
          <p:cNvPicPr>
            <a:picLocks noChangeAspect="1"/>
          </p:cNvPicPr>
          <p:nvPr/>
        </p:nvPicPr>
        <p:blipFill>
          <a:blip r:embed="rId2"/>
          <a:stretch>
            <a:fillRect/>
          </a:stretch>
        </p:blipFill>
        <p:spPr>
          <a:xfrm>
            <a:off x="6126480" y="1234440"/>
            <a:ext cx="4754880" cy="356616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7A2E2E"/>
                </a:solidFill>
              </a:defRPr>
            </a:pPr>
            <a:r>
              <a:t>Photo: Heliao on Unsplash</a:t>
            </a:r>
          </a:p>
        </p:txBody>
      </p:sp>
      <p:sp>
        <p:nvSpPr>
          <p:cNvPr id="6" name="Rectangle 5"/>
          <p:cNvSpPr/>
          <p:nvPr/>
        </p:nvSpPr>
        <p:spPr>
          <a:xfrm>
            <a:off x="640080" y="6080760"/>
            <a:ext cx="10881360" cy="128016"/>
          </a:xfrm>
          <a:prstGeom prst="rect">
            <a:avLst/>
          </a:prstGeom>
          <a:solidFill>
            <a:srgbClr val="FF7A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7A2E2E"/>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FFFFFF"/>
                </a:solidFill>
              </a:defRPr>
            </a:pPr>
            <a:r>
              <a:t>Thank You</a:t>
            </a:r>
          </a:p>
        </p:txBody>
      </p:sp>
      <p:sp>
        <p:nvSpPr>
          <p:cNvPr id="3" name="TextBox 2"/>
          <p:cNvSpPr txBox="1"/>
          <p:nvPr/>
        </p:nvSpPr>
        <p:spPr>
          <a:xfrm>
            <a:off x="822960" y="2194560"/>
            <a:ext cx="10241280" cy="1280160"/>
          </a:xfrm>
          <a:prstGeom prst="rect">
            <a:avLst/>
          </a:prstGeom>
          <a:noFill/>
        </p:spPr>
        <p:txBody>
          <a:bodyPr wrap="none">
            <a:spAutoFit/>
          </a:bodyPr>
          <a:lstStyle/>
          <a:p>
            <a:pPr>
              <a:defRPr sz="2000">
                <a:solidFill>
                  <a:srgbClr val="F6F0E8"/>
                </a:solidFill>
              </a:defRPr>
            </a:pPr>
            <a:r>
              <a:t>Thank you for joining this exploration of German culture. May it inspire further discovery!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