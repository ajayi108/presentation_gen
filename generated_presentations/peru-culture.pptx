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we'll delve into the fascinating culture of Peru. My aim is to provide you with a strategic overview, highlighting aspects crucial for our business interactions. Peru's culture is a dynamic blend, and appreciating its nuances is fundamental to building trust and achieving our objectives.</a:t>
            </a:r>
          </a:p>
          <a:p/>
          <a:p>
            <a:r>
              <a:t>Image credit: Vlad D | Profile: https://unsplash.com/@hiking_corgi?utm_source=ai_presentation_generator&amp;utm_medium=referral | Photo: https://unsplash.com/photos/a-view-of-the-ruins-of-a-mountain-town-IZ0eBgtB2I8?utm_source=ai_presentation_generator&amp;utm_medium=referral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grasp Peruvian culture, we must look to its past. The Inca Empire laid a formidable foundation, known for its innovation and organization. The arrival of the Spanish, while transformative, didn't erase these roots. Instead, it led to a fascinating cultural synthesis that continues to define Peru today.</a:t>
            </a:r>
          </a:p>
          <a:p/>
          <a:p>
            <a:r>
              <a:t>Image credit: Federico Scarionati | Profile: https://unsplash.com/@federicoscarionati?utm_source=ai_presentation_generator&amp;utm_medium=referral | Photo: https://unsplash.com/photos/green-grass-field-and-trees-covered-with-fog-BKWXBGl3zis?utm_source=ai_presentation_generator&amp;utm_medium=referral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Peru is a land of incredible geographical variety, and this diversity is mirrored in its regional cultures. From the bustling Pacific coast to the majestic Andes and the biodiverse Amazon, each area boasts unique customs, dialects, and ways of life. Recognizing these regional differences is vital for tailored engagement.</a:t>
            </a:r>
          </a:p>
          <a:p/>
          <a:p>
            <a:r>
              <a:t>Image credit: Andrea Pasquali | Profile: https://unsplash.com/@andreapasquali97?utm_source=ai_presentation_generator&amp;utm_medium=referral | Photo: https://unsplash.com/photos/ancient-circular-terraces-on-a-hillside-with-mountains-YBonREQYUUo?utm_source=ai_presentation_generator&amp;utm_medium=referral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heart of Peruvian culture are foundational values that permeate all aspects of life. Family is paramount, extending beyond the nuclear unit. Community solidarity, often seen in concepts like 'Ayni,' is deeply ingrained. Respect for hierarchy and personal connections are also crucial, often taking precedence in interactions.</a:t>
            </a:r>
          </a:p>
          <a:p/>
          <a:p>
            <a:r>
              <a:t>Image credit: Deb Dowd | Profile: https://unsplash.com/@fin777?utm_source=ai_presentation_generator&amp;utm_medium=referral | Photo: https://unsplash.com/photos/woman-in-blue-and-red-dress-wearing-red-and-white-hat-JU04xdXUTV4?utm_source=ai_presentation_generator&amp;utm_medium=referral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Translating cultural understanding into effective business practices is essential. In Peru, establishing a personal connection is often more important than immediate transaction. Be prepared for a more indirect communication style and understand that decisions may take time. Politeness and formality go a long way in demonstrating respect.</a:t>
            </a:r>
          </a:p>
          <a:p/>
          <a:p>
            <a:r>
              <a:t>Image credit: Ze Paulo Galveias | Profile: https://unsplash.com/@euzepaulo?utm_source=ai_presentation_generator&amp;utm_medium=referral | Photo: https://unsplash.com/photos/green-and-gray-mountains-under-white-clouds-during-daytime-oNXpSX-T6_k?utm_source=ai_presentation_generator&amp;utm_medium=referral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succeed in Peru, we must move beyond mere transactional interactions. By investing in relationships, adapting our approaches, and showing genuine appreciation for their culture, we can build strong, lasting partnerships. Flexibility and patience will be our greatest assets.</a:t>
            </a:r>
          </a:p>
          <a:p/>
          <a:p>
            <a:r>
              <a:t>Image credit: Diego Nuñez Berrospi | Profile: https://unsplash.com/@diegonb?utm_source=ai_presentation_generator&amp;utm_medium=referral | Photo: https://unsplash.com/photos/woman-in-white-and-black-long-sleeve-shirt-wearing-brown-hat-BwZHYqLF6Sk?utm_source=ai_presentation_generator&amp;utm_medium=referral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C3A"/>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73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515600" cy="1280160"/>
          </a:xfrm>
          <a:prstGeom prst="rect">
            <a:avLst/>
          </a:prstGeom>
          <a:noFill/>
        </p:spPr>
        <p:txBody>
          <a:bodyPr wrap="none">
            <a:spAutoFit/>
          </a:bodyPr>
          <a:lstStyle/>
          <a:p>
            <a:pPr>
              <a:defRPr sz="2800" b="1">
                <a:solidFill>
                  <a:srgbClr val="FFFFFF"/>
                </a:solidFill>
              </a:defRPr>
            </a:pPr>
            <a:r>
              <a:t>Unlocking Peruvian Culture: A Strategic Overview for Business Engagement</a:t>
            </a:r>
          </a:p>
        </p:txBody>
      </p:sp>
      <p:sp>
        <p:nvSpPr>
          <p:cNvPr id="5" name="TextBox 4"/>
          <p:cNvSpPr txBox="1"/>
          <p:nvPr/>
        </p:nvSpPr>
        <p:spPr>
          <a:xfrm>
            <a:off x="868680" y="2743200"/>
            <a:ext cx="9875520" cy="1097280"/>
          </a:xfrm>
          <a:prstGeom prst="rect">
            <a:avLst/>
          </a:prstGeom>
          <a:noFill/>
        </p:spPr>
        <p:txBody>
          <a:bodyPr wrap="none">
            <a:spAutoFit/>
          </a:bodyPr>
          <a:lstStyle/>
          <a:p>
            <a:pPr>
              <a:defRPr sz="1600">
                <a:solidFill>
                  <a:srgbClr val="F6F0E8"/>
                </a:solidFill>
              </a:defRPr>
            </a:pPr>
            <a:r>
              <a:t>Exploring the rich heritage and contemporary dynamics of Peru to inform successful stakeholder interactions and foster strong partnerships.</a:t>
            </a:r>
          </a:p>
        </p:txBody>
      </p:sp>
      <p:sp>
        <p:nvSpPr>
          <p:cNvPr id="6" name="TextBox 5"/>
          <p:cNvSpPr txBox="1"/>
          <p:nvPr/>
        </p:nvSpPr>
        <p:spPr>
          <a:xfrm>
            <a:off x="548640" y="6400800"/>
            <a:ext cx="10972800" cy="228600"/>
          </a:xfrm>
          <a:prstGeom prst="rect">
            <a:avLst/>
          </a:prstGeom>
          <a:noFill/>
        </p:spPr>
        <p:txBody>
          <a:bodyPr wrap="none">
            <a:spAutoFit/>
          </a:bodyPr>
          <a:lstStyle/>
          <a:p>
            <a:pPr>
              <a:defRPr sz="800">
                <a:solidFill>
                  <a:srgbClr val="FFFFFF"/>
                </a:solidFill>
              </a:defRPr>
            </a:pPr>
            <a:r>
              <a:t>Photo: Jhan Castillón on Unsplash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Introduction: The Rich Tapestry of Peru</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Peru: A nation of profound historical depth and vibrant cultural diversity.</a:t>
            </a:r>
          </a:p>
          <a:p>
            <a:pPr>
              <a:spcAft>
                <a:spcPts val="800"/>
              </a:spcAft>
              <a:defRPr sz="2000">
                <a:solidFill>
                  <a:srgbClr val="122221"/>
                </a:solidFill>
              </a:defRPr>
            </a:pPr>
            <a:r>
              <a:t>A blend of indigenous traditions, colonial influences, and modern expressions.</a:t>
            </a:r>
          </a:p>
          <a:p>
            <a:pPr>
              <a:spcAft>
                <a:spcPts val="800"/>
              </a:spcAft>
              <a:defRPr sz="2000">
                <a:solidFill>
                  <a:srgbClr val="122221"/>
                </a:solidFill>
              </a:defRPr>
            </a:pPr>
            <a:r>
              <a:t>Understanding culture is key to effective communication and successful partnerships.</a:t>
            </a:r>
          </a:p>
          <a:p>
            <a:pPr>
              <a:spcAft>
                <a:spcPts val="800"/>
              </a:spcAft>
              <a:defRPr sz="2000">
                <a:solidFill>
                  <a:srgbClr val="122221"/>
                </a:solidFill>
              </a:defRPr>
            </a:pPr>
            <a:r>
              <a:t>This presentation offers insights for strategic business engagement.</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Vlad D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Historical Foundations: Inca Legacy and Colonial Influence</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The enduring legacy of the Inca Empire: Advanced civilization, sophisticated social structures.</a:t>
            </a:r>
          </a:p>
          <a:p>
            <a:pPr>
              <a:spcAft>
                <a:spcPts val="800"/>
              </a:spcAft>
              <a:defRPr sz="2000">
                <a:solidFill>
                  <a:srgbClr val="122221"/>
                </a:solidFill>
              </a:defRPr>
            </a:pPr>
            <a:r>
              <a:t>Spanish conquest and subsequent colonial rule introduced new language, religion, and governance.</a:t>
            </a:r>
          </a:p>
          <a:p>
            <a:pPr>
              <a:spcAft>
                <a:spcPts val="800"/>
              </a:spcAft>
              <a:defRPr sz="2000">
                <a:solidFill>
                  <a:srgbClr val="122221"/>
                </a:solidFill>
              </a:defRPr>
            </a:pPr>
            <a:r>
              <a:t>Syncretism: A unique fusion of indigenous beliefs and Spanish traditions.</a:t>
            </a:r>
          </a:p>
          <a:p>
            <a:pPr>
              <a:spcAft>
                <a:spcPts val="800"/>
              </a:spcAft>
              <a:defRPr sz="2000">
                <a:solidFill>
                  <a:srgbClr val="122221"/>
                </a:solidFill>
              </a:defRPr>
            </a:pPr>
            <a:r>
              <a:t>These historical layers deeply shape modern Peruvian identity and values.</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Federico Scarionati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Geographic Diversity and Regional Cultures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Three distinct geographical regions: Coast, Andes, and Amazon.</a:t>
            </a:r>
          </a:p>
          <a:p>
            <a:pPr>
              <a:spcAft>
                <a:spcPts val="800"/>
              </a:spcAft>
              <a:defRPr sz="2000">
                <a:solidFill>
                  <a:srgbClr val="122221"/>
                </a:solidFill>
              </a:defRPr>
            </a:pPr>
            <a:r>
              <a:t>Coastal culture: Influenced by Lima, more cosmopolitan and outward-looking.</a:t>
            </a:r>
          </a:p>
          <a:p>
            <a:pPr>
              <a:spcAft>
                <a:spcPts val="800"/>
              </a:spcAft>
              <a:defRPr sz="2000">
                <a:solidFill>
                  <a:srgbClr val="122221"/>
                </a:solidFill>
              </a:defRPr>
            </a:pPr>
            <a:r>
              <a:t>Andean culture: Strong indigenous heritage, community-focused, rich in traditional arts.</a:t>
            </a:r>
          </a:p>
          <a:p>
            <a:pPr>
              <a:spcAft>
                <a:spcPts val="800"/>
              </a:spcAft>
              <a:defRPr sz="2000">
                <a:solidFill>
                  <a:srgbClr val="122221"/>
                </a:solidFill>
              </a:defRPr>
            </a:pPr>
            <a:r>
              <a:t>Amazonian culture: Unique biodiversity, distinct tribal traditions, strong connection to nature.</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Andrea Pasquali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Core Cultural Values: Family, Community, and Respect</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Family (La Familia) as the central pillar of society and personal identity.</a:t>
            </a:r>
          </a:p>
          <a:p>
            <a:pPr>
              <a:spcAft>
                <a:spcPts val="800"/>
              </a:spcAft>
              <a:defRPr sz="2000">
                <a:solidFill>
                  <a:srgbClr val="122221"/>
                </a:solidFill>
              </a:defRPr>
            </a:pPr>
            <a:r>
              <a:t>Strong emphasis on community (Ayni/Minga) and collective well-being.</a:t>
            </a:r>
          </a:p>
          <a:p>
            <a:pPr>
              <a:spcAft>
                <a:spcPts val="800"/>
              </a:spcAft>
              <a:defRPr sz="2000">
                <a:solidFill>
                  <a:srgbClr val="122221"/>
                </a:solidFill>
              </a:defRPr>
            </a:pPr>
            <a:r>
              <a:t>Respect (Respeto) for elders, authority, and social hierarchy.</a:t>
            </a:r>
          </a:p>
          <a:p>
            <a:pPr>
              <a:spcAft>
                <a:spcPts val="800"/>
              </a:spcAft>
              <a:defRPr sz="2000">
                <a:solidFill>
                  <a:srgbClr val="122221"/>
                </a:solidFill>
              </a:defRPr>
            </a:pPr>
            <a:r>
              <a:t>Importance of personal relationships and building trust over time.</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Deb Dowd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Business Etiquette and Communication Styles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22221"/>
                </a:solidFill>
              </a:defRPr>
            </a:pPr>
            <a:r>
              <a:t>Prioritize building rapport and personal trust before discussing business specifics.</a:t>
            </a:r>
          </a:p>
          <a:p>
            <a:pPr>
              <a:spcAft>
                <a:spcPts val="800"/>
              </a:spcAft>
              <a:defRPr sz="2000">
                <a:solidFill>
                  <a:srgbClr val="122221"/>
                </a:solidFill>
              </a:defRPr>
            </a:pPr>
            <a:r>
              <a:t>Communication is often indirect; pay attention to non-verbal cues and context.</a:t>
            </a:r>
          </a:p>
          <a:p>
            <a:pPr>
              <a:spcAft>
                <a:spcPts val="800"/>
              </a:spcAft>
              <a:defRPr sz="2000">
                <a:solidFill>
                  <a:srgbClr val="122221"/>
                </a:solidFill>
              </a:defRPr>
            </a:pPr>
            <a:r>
              <a:t>Patience is key in negotiations and decision-making processes.</a:t>
            </a:r>
          </a:p>
          <a:p>
            <a:pPr>
              <a:spcAft>
                <a:spcPts val="800"/>
              </a:spcAft>
              <a:defRPr sz="2000">
                <a:solidFill>
                  <a:srgbClr val="122221"/>
                </a:solidFill>
              </a:defRPr>
            </a:pPr>
            <a:r>
              <a:t>Formality and respect for titles are generally appreciated in initial meetings.</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Ze Paulo Galveias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CF8F5"/>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173C3A"/>
                </a:solidFill>
              </a:defRPr>
            </a:pPr>
            <a:r>
              <a:t>Leveraging Cultural Understanding for Success</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22221"/>
                </a:solidFill>
              </a:defRPr>
            </a:pPr>
            <a:r>
              <a:t>Foster long-term relationships based on mutual respect and understanding.</a:t>
            </a:r>
          </a:p>
          <a:p>
            <a:pPr>
              <a:spcAft>
                <a:spcPts val="800"/>
              </a:spcAft>
              <a:defRPr sz="2000">
                <a:solidFill>
                  <a:srgbClr val="122221"/>
                </a:solidFill>
              </a:defRPr>
            </a:pPr>
            <a:r>
              <a:t>Adapt communication strategies to local preferences and regional nuances.</a:t>
            </a:r>
          </a:p>
          <a:p>
            <a:pPr>
              <a:spcAft>
                <a:spcPts val="800"/>
              </a:spcAft>
              <a:defRPr sz="2000">
                <a:solidFill>
                  <a:srgbClr val="122221"/>
                </a:solidFill>
              </a:defRPr>
            </a:pPr>
            <a:r>
              <a:t>Demonstrate genuine interest in Peruvian culture and its people.</a:t>
            </a:r>
          </a:p>
          <a:p>
            <a:pPr>
              <a:spcAft>
                <a:spcPts val="800"/>
              </a:spcAft>
              <a:defRPr sz="2000">
                <a:solidFill>
                  <a:srgbClr val="122221"/>
                </a:solidFill>
              </a:defRPr>
            </a:pPr>
            <a:r>
              <a:t>Embrace flexibility and patience in all business dealings.</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173C3A"/>
                </a:solidFill>
              </a:defRPr>
            </a:pPr>
            <a:r>
              <a:t>Photo: Diego Nuñez Berrospi on Unsplash</a:t>
            </a:r>
          </a:p>
        </p:txBody>
      </p:sp>
      <p:sp>
        <p:nvSpPr>
          <p:cNvPr id="6" name="Rectangle 5"/>
          <p:cNvSpPr/>
          <p:nvPr/>
        </p:nvSpPr>
        <p:spPr>
          <a:xfrm>
            <a:off x="640080" y="6080760"/>
            <a:ext cx="10881360" cy="128016"/>
          </a:xfrm>
          <a:prstGeom prst="rect">
            <a:avLst/>
          </a:prstGeom>
          <a:solidFill>
            <a:srgbClr val="3CB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C3A"/>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your attention; we look forward to a future of fruitful collaboration in Peru.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