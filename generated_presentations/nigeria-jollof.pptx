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 by introducing Jollof Rice as a celebrated West African staple, highlighting its visual appeal and its prevalence in social events. Emphasize its cultural importance beyond just being a meal.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the historical roots of Jollof, tracing its origins to the Wolof Empire. Explain how the dish adapted and spread, incorporating new ingredients as they became available through colonial trade routes.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what makes Nigerian Jollof unique. Detail the specific ingredients and cooking methods that contribute to its signature taste, particularly the 'smoky' flavor. Mention common accompaniments.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concept of the 'Jollof Wars' as a lighthearted competition. Highlight the specific differences in preparation between Nigerian and Ghanaian Jollof, fostering an understanding of regional variations.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Jollof's broader cultural significance. Illustrate how it unites Nigerians, both at home and abroad, and how its popularity has grown on the global culinary stage.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 a simplified guide to making Nigerian Jollof. Focus on the essential steps and techniques that achieve the authentic taste and texture, encouraging students to try making it themselves.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4858"/>
        </a:solidFill>
        <a:effectLst/>
      </p:bgPr>
    </p:bg>
    <p:spTree>
      <p:nvGrpSpPr>
        <p:cNvPr id="1" name=""/>
        <p:cNvGrpSpPr/>
        <p:nvPr/>
      </p:nvGrpSpPr>
      <p:grpSpPr/>
      <p:sp>
        <p:nvSpPr>
          <p:cNvPr id="2" name="Rectangle 1"/>
          <p:cNvSpPr/>
          <p:nvPr/>
        </p:nvSpPr>
        <p:spPr>
          <a:xfrm>
            <a:off x="868680" y="868680"/>
            <a:ext cx="1463040" cy="146304"/>
          </a:xfrm>
          <a:prstGeom prst="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25880"/>
            <a:ext cx="10241280" cy="1645920"/>
          </a:xfrm>
          <a:prstGeom prst="rect">
            <a:avLst/>
          </a:prstGeom>
          <a:noFill/>
        </p:spPr>
        <p:txBody>
          <a:bodyPr wrap="square">
            <a:spAutoFit/>
          </a:bodyPr>
          <a:lstStyle/>
          <a:p>
            <a:pPr algn="l">
              <a:defRPr sz="3000" b="1">
                <a:solidFill>
                  <a:srgbClr val="FFFFFF"/>
                </a:solidFill>
              </a:defRPr>
            </a:pPr>
            <a:r>
              <a:t>The Culinary Journey of Nigerian Jollof Rice</a:t>
            </a:r>
          </a:p>
        </p:txBody>
      </p:sp>
      <p:sp>
        <p:nvSpPr>
          <p:cNvPr id="4" name="TextBox 3"/>
          <p:cNvSpPr txBox="1"/>
          <p:nvPr/>
        </p:nvSpPr>
        <p:spPr>
          <a:xfrm>
            <a:off x="1143000" y="3154680"/>
            <a:ext cx="9875520" cy="914400"/>
          </a:xfrm>
          <a:prstGeom prst="rect">
            <a:avLst/>
          </a:prstGeom>
          <a:noFill/>
        </p:spPr>
        <p:txBody>
          <a:bodyPr wrap="square">
            <a:spAutoFit/>
          </a:bodyPr>
          <a:lstStyle/>
          <a:p>
            <a:pPr algn="l">
              <a:defRPr sz="1700">
                <a:solidFill>
                  <a:srgbClr val="F6F0E8"/>
                </a:solidFill>
              </a:defRPr>
            </a:pPr>
            <a:r>
              <a:t>Explore the rich history, cultural significance, and unique flavors of Nigeria's beloved national dish.</a:t>
            </a:r>
          </a:p>
        </p:txBody>
      </p:sp>
      <p:sp>
        <p:nvSpPr>
          <p:cNvPr id="5" name="TextBox 4"/>
          <p:cNvSpPr txBox="1"/>
          <p:nvPr/>
        </p:nvSpPr>
        <p:spPr>
          <a:xfrm>
            <a:off x="1188720" y="4892040"/>
            <a:ext cx="9784080" cy="502920"/>
          </a:xfrm>
          <a:prstGeom prst="rect">
            <a:avLst/>
          </a:prstGeom>
          <a:noFill/>
        </p:spPr>
        <p:txBody>
          <a:bodyPr wrap="none">
            <a:spAutoFit/>
          </a:bodyPr>
          <a:lstStyle/>
          <a:p>
            <a:pPr algn="l">
              <a:defRPr sz="1300" b="1">
                <a:solidFill>
                  <a:srgbClr val="FFFFFF"/>
                </a:solidFill>
              </a:defRPr>
            </a:pPr>
            <a:r>
              <a:t>Ikponmwosa Ajayi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1E8"/>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2F4858"/>
                </a:solidFill>
              </a:defRPr>
            </a:pPr>
            <a:r>
              <a:t>What is Jollof Rice?</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1E252B"/>
                </a:solidFill>
              </a:defRPr>
            </a:pPr>
            <a:r>
              <a:t>A popular one-pot rice dish common in West African cuisines.</a:t>
            </a:r>
          </a:p>
          <a:p>
            <a:pPr>
              <a:spcAft>
                <a:spcPts val="800"/>
              </a:spcAft>
              <a:defRPr sz="2000">
                <a:solidFill>
                  <a:srgbClr val="1E252B"/>
                </a:solidFill>
              </a:defRPr>
            </a:pPr>
            <a:r>
              <a:t>Known for its vibrant red color from tomato paste and peppers.</a:t>
            </a:r>
          </a:p>
          <a:p>
            <a:pPr>
              <a:spcAft>
                <a:spcPts val="800"/>
              </a:spcAft>
              <a:defRPr sz="2000">
                <a:solidFill>
                  <a:srgbClr val="1E252B"/>
                </a:solidFill>
              </a:defRPr>
            </a:pPr>
            <a:r>
              <a:t>Often served at celebrations, parties, and family gatherings.</a:t>
            </a:r>
          </a:p>
          <a:p>
            <a:pPr>
              <a:spcAft>
                <a:spcPts val="800"/>
              </a:spcAft>
              <a:defRPr sz="2000">
                <a:solidFill>
                  <a:srgbClr val="1E252B"/>
                </a:solidFill>
              </a:defRPr>
            </a:pPr>
            <a:r>
              <a:t>A staple dish with deep cultural roots across the region.</a:t>
            </a:r>
          </a:p>
        </p:txBody>
      </p:sp>
      <p:sp>
        <p:nvSpPr>
          <p:cNvPr id="4" name="Rectangle 3"/>
          <p:cNvSpPr/>
          <p:nvPr/>
        </p:nvSpPr>
        <p:spPr>
          <a:xfrm>
            <a:off x="640080" y="6080760"/>
            <a:ext cx="10881360" cy="128016"/>
          </a:xfrm>
          <a:prstGeom prst="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1E8"/>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2F4858"/>
                </a:solidFill>
              </a:defRPr>
            </a:pPr>
            <a:r>
              <a:t>The Origins of Jollof</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1E252B"/>
                </a:solidFill>
              </a:defRPr>
            </a:pPr>
            <a:r>
              <a:t>Believed to have originated from the Wolof people of the Senegambia region.</a:t>
            </a:r>
          </a:p>
          <a:p>
            <a:pPr>
              <a:spcAft>
                <a:spcPts val="800"/>
              </a:spcAft>
              <a:defRPr sz="2000">
                <a:solidFill>
                  <a:srgbClr val="1E252B"/>
                </a:solidFill>
              </a:defRPr>
            </a:pPr>
            <a:r>
              <a:t>Early versions likely used local grains like fonio.</a:t>
            </a:r>
          </a:p>
          <a:p>
            <a:pPr>
              <a:spcAft>
                <a:spcPts val="800"/>
              </a:spcAft>
              <a:defRPr sz="2000">
                <a:solidFill>
                  <a:srgbClr val="1E252B"/>
                </a:solidFill>
              </a:defRPr>
            </a:pPr>
            <a:r>
              <a:t>Spread across West Africa through trade and migration.</a:t>
            </a:r>
          </a:p>
          <a:p>
            <a:pPr>
              <a:spcAft>
                <a:spcPts val="800"/>
              </a:spcAft>
              <a:defRPr sz="2000">
                <a:solidFill>
                  <a:srgbClr val="1E252B"/>
                </a:solidFill>
              </a:defRPr>
            </a:pPr>
            <a:r>
              <a:t>Evolved with the introduction of new ingredients like tomatoes and rice.</a:t>
            </a:r>
          </a:p>
        </p:txBody>
      </p:sp>
      <p:sp>
        <p:nvSpPr>
          <p:cNvPr id="4" name="Rectangle 3"/>
          <p:cNvSpPr/>
          <p:nvPr/>
        </p:nvSpPr>
        <p:spPr>
          <a:xfrm>
            <a:off x="640080" y="6080760"/>
            <a:ext cx="10881360" cy="128016"/>
          </a:xfrm>
          <a:prstGeom prst="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1E8"/>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2F4858"/>
                </a:solidFill>
              </a:defRPr>
            </a:pPr>
            <a:r>
              <a:t>Nigerian Jollof: A Distinctive Flavor</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1E252B"/>
                </a:solidFill>
              </a:defRPr>
            </a:pPr>
            <a:r>
              <a:t>Characterized by long-grain parboiled rice.</a:t>
            </a:r>
          </a:p>
          <a:p>
            <a:pPr>
              <a:spcAft>
                <a:spcPts val="800"/>
              </a:spcAft>
              <a:defRPr sz="2000">
                <a:solidFill>
                  <a:srgbClr val="1E252B"/>
                </a:solidFill>
              </a:defRPr>
            </a:pPr>
            <a:r>
              <a:t>Rich tomato and red pepper base (stew).</a:t>
            </a:r>
          </a:p>
          <a:p>
            <a:pPr>
              <a:spcAft>
                <a:spcPts val="800"/>
              </a:spcAft>
              <a:defRPr sz="2000">
                <a:solidFill>
                  <a:srgbClr val="1E252B"/>
                </a:solidFill>
              </a:defRPr>
            </a:pPr>
            <a:r>
              <a:t>Often cooked over open flame for a smoky flavor.</a:t>
            </a:r>
          </a:p>
          <a:p>
            <a:pPr>
              <a:spcAft>
                <a:spcPts val="800"/>
              </a:spcAft>
              <a:defRPr sz="2000">
                <a:solidFill>
                  <a:srgbClr val="1E252B"/>
                </a:solidFill>
              </a:defRPr>
            </a:pPr>
            <a:r>
              <a:t>Typically served with fried plantains, coleslaw, and various proteins.</a:t>
            </a:r>
          </a:p>
        </p:txBody>
      </p:sp>
      <p:sp>
        <p:nvSpPr>
          <p:cNvPr id="4" name="Rectangle 3"/>
          <p:cNvSpPr/>
          <p:nvPr/>
        </p:nvSpPr>
        <p:spPr>
          <a:xfrm>
            <a:off x="640080" y="6080760"/>
            <a:ext cx="10881360" cy="128016"/>
          </a:xfrm>
          <a:prstGeom prst="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1E8"/>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2F4858"/>
                </a:solidFill>
              </a:defRPr>
            </a:pPr>
            <a:r>
              <a:t>The Friendly Jollof Wars</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1E252B"/>
                </a:solidFill>
              </a:defRPr>
            </a:pPr>
            <a:r>
              <a:t>A playful rivalry among West African nations over who makes the best Jollof.</a:t>
            </a:r>
          </a:p>
          <a:p>
            <a:pPr>
              <a:spcAft>
                <a:spcPts val="800"/>
              </a:spcAft>
              <a:defRPr sz="2000">
                <a:solidFill>
                  <a:srgbClr val="1E252B"/>
                </a:solidFill>
              </a:defRPr>
            </a:pPr>
            <a:r>
              <a:t>Ghana and Nigeria are key contenders.</a:t>
            </a:r>
          </a:p>
          <a:p>
            <a:pPr>
              <a:spcAft>
                <a:spcPts val="800"/>
              </a:spcAft>
              <a:defRPr sz="2000">
                <a:solidFill>
                  <a:srgbClr val="1E252B"/>
                </a:solidFill>
              </a:defRPr>
            </a:pPr>
            <a:r>
              <a:t>Differences lie in rice type, spice blend, and cooking techniques.</a:t>
            </a:r>
          </a:p>
          <a:p>
            <a:pPr>
              <a:spcAft>
                <a:spcPts val="800"/>
              </a:spcAft>
              <a:defRPr sz="2000">
                <a:solidFill>
                  <a:srgbClr val="1E252B"/>
                </a:solidFill>
              </a:defRPr>
            </a:pPr>
            <a:r>
              <a:t>Celebrates the diversity and passion for the dish across the region.</a:t>
            </a:r>
          </a:p>
        </p:txBody>
      </p:sp>
      <p:sp>
        <p:nvSpPr>
          <p:cNvPr id="4" name="Rectangle 3"/>
          <p:cNvSpPr/>
          <p:nvPr/>
        </p:nvSpPr>
        <p:spPr>
          <a:xfrm>
            <a:off x="640080" y="6080760"/>
            <a:ext cx="10881360" cy="128016"/>
          </a:xfrm>
          <a:prstGeom prst="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1E8"/>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2F4858"/>
                </a:solidFill>
              </a:defRPr>
            </a:pPr>
            <a:r>
              <a:t>Cultural Impact and Global Reach</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1E252B"/>
                </a:solidFill>
              </a:defRPr>
            </a:pPr>
            <a:r>
              <a:t>A symbol of Nigerian identity and pride.</a:t>
            </a:r>
          </a:p>
          <a:p>
            <a:pPr>
              <a:spcAft>
                <a:spcPts val="800"/>
              </a:spcAft>
              <a:defRPr sz="2000">
                <a:solidFill>
                  <a:srgbClr val="1E252B"/>
                </a:solidFill>
              </a:defRPr>
            </a:pPr>
            <a:r>
              <a:t>Central to family meals, festivals, and national holidays.</a:t>
            </a:r>
          </a:p>
          <a:p>
            <a:pPr>
              <a:spcAft>
                <a:spcPts val="800"/>
              </a:spcAft>
              <a:defRPr sz="2000">
                <a:solidFill>
                  <a:srgbClr val="1E252B"/>
                </a:solidFill>
              </a:defRPr>
            </a:pPr>
            <a:r>
              <a:t>Popularized globally by the Nigerian diaspora.</a:t>
            </a:r>
          </a:p>
          <a:p>
            <a:pPr>
              <a:spcAft>
                <a:spcPts val="800"/>
              </a:spcAft>
              <a:defRPr sz="2000">
                <a:solidFill>
                  <a:srgbClr val="1E252B"/>
                </a:solidFill>
              </a:defRPr>
            </a:pPr>
            <a:r>
              <a:t>Featured in international cooking shows and food blogs.</a:t>
            </a:r>
          </a:p>
        </p:txBody>
      </p:sp>
      <p:sp>
        <p:nvSpPr>
          <p:cNvPr id="4" name="Rectangle 3"/>
          <p:cNvSpPr/>
          <p:nvPr/>
        </p:nvSpPr>
        <p:spPr>
          <a:xfrm>
            <a:off x="640080" y="6080760"/>
            <a:ext cx="10881360" cy="128016"/>
          </a:xfrm>
          <a:prstGeom prst="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1E8"/>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2F4858"/>
                </a:solidFill>
              </a:defRPr>
            </a:pPr>
            <a:r>
              <a:t>Making Nigerian Jollof: Key Steps</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1E252B"/>
                </a:solidFill>
              </a:defRPr>
            </a:pPr>
            <a:r>
              <a:t>Prepare the tomato and pepper base (stew).</a:t>
            </a:r>
          </a:p>
          <a:p>
            <a:pPr>
              <a:spcAft>
                <a:spcPts val="800"/>
              </a:spcAft>
              <a:defRPr sz="2000">
                <a:solidFill>
                  <a:srgbClr val="1E252B"/>
                </a:solidFill>
              </a:defRPr>
            </a:pPr>
            <a:r>
              <a:t>Fry the rice in the stew to absorb flavors.</a:t>
            </a:r>
          </a:p>
          <a:p>
            <a:pPr>
              <a:spcAft>
                <a:spcPts val="800"/>
              </a:spcAft>
              <a:defRPr sz="2000">
                <a:solidFill>
                  <a:srgbClr val="1E252B"/>
                </a:solidFill>
              </a:defRPr>
            </a:pPr>
            <a:r>
              <a:t>Add broth and cook until rice is tender.</a:t>
            </a:r>
          </a:p>
          <a:p>
            <a:pPr>
              <a:spcAft>
                <a:spcPts val="800"/>
              </a:spcAft>
              <a:defRPr sz="2000">
                <a:solidFill>
                  <a:srgbClr val="1E252B"/>
                </a:solidFill>
              </a:defRPr>
            </a:pPr>
            <a:r>
              <a:t>Allow it to steam for the 'smoky' bottom layer.</a:t>
            </a:r>
          </a:p>
        </p:txBody>
      </p:sp>
      <p:sp>
        <p:nvSpPr>
          <p:cNvPr id="4" name="Rectangle 3"/>
          <p:cNvSpPr/>
          <p:nvPr/>
        </p:nvSpPr>
        <p:spPr>
          <a:xfrm>
            <a:off x="640080" y="6080760"/>
            <a:ext cx="10881360" cy="128016"/>
          </a:xfrm>
          <a:prstGeom prst="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F4858"/>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FFFFFF"/>
                </a:solidFill>
              </a:defRPr>
            </a:pPr>
            <a:r>
              <a:t>Thank You</a:t>
            </a:r>
          </a:p>
        </p:txBody>
      </p:sp>
      <p:sp>
        <p:nvSpPr>
          <p:cNvPr id="3" name="TextBox 2"/>
          <p:cNvSpPr txBox="1"/>
          <p:nvPr/>
        </p:nvSpPr>
        <p:spPr>
          <a:xfrm>
            <a:off x="822960" y="2194560"/>
            <a:ext cx="10241280" cy="1280160"/>
          </a:xfrm>
          <a:prstGeom prst="rect">
            <a:avLst/>
          </a:prstGeom>
          <a:noFill/>
        </p:spPr>
        <p:txBody>
          <a:bodyPr wrap="none">
            <a:spAutoFit/>
          </a:bodyPr>
          <a:lstStyle/>
          <a:p>
            <a:pPr>
              <a:defRPr sz="2000">
                <a:solidFill>
                  <a:srgbClr val="F6F0E8"/>
                </a:solidFill>
              </a:defRPr>
            </a:pPr>
            <a:r>
              <a:t>Thank you for joining this culinary journey into the heart of Nigerian Jollof!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