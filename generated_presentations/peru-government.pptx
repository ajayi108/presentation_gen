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Peru operates as a presidential republic, emphasizing a clear separation of powers. The President serves as both head of state and government, supported by a Council of Ministers. The unicameral Congress plays a crucial role in legislation and oversight, while an independent judiciary ensures legal stability. Understanding these foundational elements is key to navigating the Peruvian political landscape.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Peru's economy is robust and diversified, with mining being a dominant sector, particularly copper, gold, and silver. Agriculture, fisheries, and a growing services sector also contribute significantly. The nation has historically maintained strong GDP growth, supported by sound fiscal management and a commitment to market-oriented policies, making it an attractive destination for foreign investment.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Peruvian government actively promotes foreign direct investment through a stable legal framework and a network of free trade agreements. Policies are designed to foster a competitive business environment, including streamlined administrative processes and targeted tax incentives in areas like mining, energy, and tourism, aiming to attract and retain international capital.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Peru continues to attract substantial FDI, driven by its natural resources and expanding economy. Key investment opportunities exist in large-scale infrastructure projects, renewable energy, and the burgeoning technology sector. The government actively utilizes PPPs to finance and execute major developments, while a growing middle class fuels a dynamic domestic consumer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Peruvian government and society increasingly prioritize ESG principles. Companies operating in Peru are expected to adhere to robust environmental regulations and engage proactively with local communities, particularly in resource-intensive sectors. This focus on sustainable and inclusive development is crucial for long-term operational success and social license.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Peru's future outlook remains positive, with a government committed to economic stability and fostering growth. Ongoing discussions around structural reforms aim to enhance competitiveness. Digital transformation is a key focus, creating new opportunities. For business stakeholders, proactive engagement and strategic partnerships are essential to capitalize on Peru's evolving landscape.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Peru's Governance and Economic Landscape: A Stakeholder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solidFill>
                  <a:srgbClr val="F6F0E8"/>
                </a:solidFill>
              </a:defRPr>
            </a:pPr>
            <a:r>
              <a:t>An educational overview of Peru's political structure, economic drivers, and investment climate for informed business engagement.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C3A"/>
                </a:solidFill>
              </a:defRPr>
            </a:pPr>
            <a:r>
              <a:t>Understanding Peru's Democratic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2344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22221"/>
                </a:solidFill>
              </a:defRPr>
            </a:pPr>
            <a:r>
              <a:t>Republic with a multi-party system</a:t>
            </a:r>
          </a:p>
          <a:p>
            <a:pPr>
              <a:spcAft>
                <a:spcPts val="800"/>
              </a:spcAft>
              <a:defRPr sz="2000">
                <a:solidFill>
                  <a:srgbClr val="122221"/>
                </a:solidFill>
              </a:defRPr>
            </a:pPr>
            <a:r>
              <a:t>Executive Branch: President and Council of Ministers</a:t>
            </a:r>
          </a:p>
          <a:p>
            <a:pPr>
              <a:spcAft>
                <a:spcPts val="800"/>
              </a:spcAft>
              <a:defRPr sz="2000">
                <a:solidFill>
                  <a:srgbClr val="122221"/>
                </a:solidFill>
              </a:defRPr>
            </a:pPr>
            <a:r>
              <a:t>Legislative Branch: Unicameral Congress</a:t>
            </a:r>
          </a:p>
          <a:p>
            <a:pPr>
              <a:spcAft>
                <a:spcPts val="800"/>
              </a:spcAft>
              <a:defRPr sz="2000">
                <a:solidFill>
                  <a:srgbClr val="122221"/>
                </a:solidFill>
              </a:defRPr>
            </a:pPr>
            <a:r>
              <a:t>Judicial Branch: Independent court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080760"/>
            <a:ext cx="10881360" cy="128016"/>
          </a:xfrm>
          <a:prstGeom prst="rect">
            <a:avLst/>
          </a:prstGeom>
          <a:solidFill>
            <a:srgbClr val="3CB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C3A"/>
                </a:solidFill>
              </a:defRPr>
            </a:pPr>
            <a:r>
              <a:t>Key Economic Pillars and Growth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22221"/>
                </a:solidFill>
              </a:defRPr>
            </a:pPr>
            <a:r>
              <a:t>Diverse economy: mining, agriculture, services, manufacturing</a:t>
            </a:r>
          </a:p>
          <a:p>
            <a:pPr>
              <a:spcAft>
                <a:spcPts val="800"/>
              </a:spcAft>
              <a:defRPr sz="2000">
                <a:solidFill>
                  <a:srgbClr val="122221"/>
                </a:solidFill>
              </a:defRPr>
            </a:pPr>
            <a:r>
              <a:t>Strong commodity exports drive growth</a:t>
            </a:r>
          </a:p>
          <a:p>
            <a:pPr>
              <a:spcAft>
                <a:spcPts val="800"/>
              </a:spcAft>
              <a:defRPr sz="2000">
                <a:solidFill>
                  <a:srgbClr val="122221"/>
                </a:solidFill>
              </a:defRPr>
            </a:pPr>
            <a:r>
              <a:t>Consistent GDP growth prior to recent global events</a:t>
            </a:r>
          </a:p>
          <a:p>
            <a:pPr>
              <a:spcAft>
                <a:spcPts val="800"/>
              </a:spcAft>
              <a:defRPr sz="2000">
                <a:solidFill>
                  <a:srgbClr val="122221"/>
                </a:solidFill>
              </a:defRPr>
            </a:pPr>
            <a:r>
              <a:t>Prudent fiscal and monetary policies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080760"/>
            <a:ext cx="10881360" cy="128016"/>
          </a:xfrm>
          <a:prstGeom prst="rect">
            <a:avLst/>
          </a:prstGeom>
          <a:solidFill>
            <a:srgbClr val="3CB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C3A"/>
                </a:solidFill>
              </a:defRPr>
            </a:pPr>
            <a:r>
              <a:t>Government Policies Impacting Business &amp;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2344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22221"/>
                </a:solidFill>
              </a:defRPr>
            </a:pPr>
            <a:r>
              <a:t>Open economy with free trade agreements</a:t>
            </a:r>
          </a:p>
          <a:p>
            <a:pPr>
              <a:spcAft>
                <a:spcPts val="800"/>
              </a:spcAft>
              <a:defRPr sz="2000">
                <a:solidFill>
                  <a:srgbClr val="122221"/>
                </a:solidFill>
              </a:defRPr>
            </a:pPr>
            <a:r>
              <a:t>Foreign investment promotion laws</a:t>
            </a:r>
          </a:p>
          <a:p>
            <a:pPr>
              <a:spcAft>
                <a:spcPts val="800"/>
              </a:spcAft>
              <a:defRPr sz="2000">
                <a:solidFill>
                  <a:srgbClr val="122221"/>
                </a:solidFill>
              </a:defRPr>
            </a:pPr>
            <a:r>
              <a:t>Simplified bureaucratic procedures for investors</a:t>
            </a:r>
          </a:p>
          <a:p>
            <a:pPr>
              <a:spcAft>
                <a:spcPts val="800"/>
              </a:spcAft>
              <a:defRPr sz="2000">
                <a:solidFill>
                  <a:srgbClr val="122221"/>
                </a:solidFill>
              </a:defRPr>
            </a:pPr>
            <a:r>
              <a:t>Tax incentives in specific sectors/regions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080760"/>
            <a:ext cx="10881360" cy="128016"/>
          </a:xfrm>
          <a:prstGeom prst="rect">
            <a:avLst/>
          </a:prstGeom>
          <a:solidFill>
            <a:srgbClr val="3CB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C3A"/>
                </a:solidFill>
              </a:defRPr>
            </a:pPr>
            <a:r>
              <a:t>Investment Climate and Emerging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22221"/>
                </a:solidFill>
              </a:defRPr>
            </a:pPr>
            <a:r>
              <a:t>Significant foreign direct investment inflows</a:t>
            </a:r>
          </a:p>
          <a:p>
            <a:pPr>
              <a:spcAft>
                <a:spcPts val="800"/>
              </a:spcAft>
              <a:defRPr sz="2000">
                <a:solidFill>
                  <a:srgbClr val="122221"/>
                </a:solidFill>
              </a:defRPr>
            </a:pPr>
            <a:r>
              <a:t>Opportunities in infrastructure, energy, and technology</a:t>
            </a:r>
          </a:p>
          <a:p>
            <a:pPr>
              <a:spcAft>
                <a:spcPts val="800"/>
              </a:spcAft>
              <a:defRPr sz="2000">
                <a:solidFill>
                  <a:srgbClr val="122221"/>
                </a:solidFill>
              </a:defRPr>
            </a:pPr>
            <a:r>
              <a:t>Public-Private Partnerships (PPPs) as a growth model</a:t>
            </a:r>
          </a:p>
          <a:p>
            <a:pPr>
              <a:spcAft>
                <a:spcPts val="800"/>
              </a:spcAft>
              <a:defRPr sz="2000">
                <a:solidFill>
                  <a:srgbClr val="122221"/>
                </a:solidFill>
              </a:defRPr>
            </a:pPr>
            <a:r>
              <a:t>Growing domestic consumer market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080760"/>
            <a:ext cx="10881360" cy="128016"/>
          </a:xfrm>
          <a:prstGeom prst="rect">
            <a:avLst/>
          </a:prstGeom>
          <a:solidFill>
            <a:srgbClr val="3CB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C3A"/>
                </a:solidFill>
              </a:defRPr>
            </a:pPr>
            <a:r>
              <a:t>Social Responsibility and Sustainable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2344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22221"/>
                </a:solidFill>
              </a:defRPr>
            </a:pPr>
            <a:r>
              <a:t>Emphasis on Environmental, Social, and Governance (ESG)</a:t>
            </a:r>
          </a:p>
          <a:p>
            <a:pPr>
              <a:spcAft>
                <a:spcPts val="800"/>
              </a:spcAft>
              <a:defRPr sz="2000">
                <a:solidFill>
                  <a:srgbClr val="122221"/>
                </a:solidFill>
              </a:defRPr>
            </a:pPr>
            <a:r>
              <a:t>Regulations for environmental protection and resource management</a:t>
            </a:r>
          </a:p>
          <a:p>
            <a:pPr>
              <a:spcAft>
                <a:spcPts val="800"/>
              </a:spcAft>
              <a:defRPr sz="2000">
                <a:solidFill>
                  <a:srgbClr val="122221"/>
                </a:solidFill>
              </a:defRPr>
            </a:pPr>
            <a:r>
              <a:t>Community engagement requirements for large projects</a:t>
            </a:r>
          </a:p>
          <a:p>
            <a:pPr>
              <a:spcAft>
                <a:spcPts val="800"/>
              </a:spcAft>
              <a:defRPr sz="2000">
                <a:solidFill>
                  <a:srgbClr val="122221"/>
                </a:solidFill>
              </a:defRPr>
            </a:pPr>
            <a:r>
              <a:t>Commitment to sustainable practices in key industries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080760"/>
            <a:ext cx="10881360" cy="128016"/>
          </a:xfrm>
          <a:prstGeom prst="rect">
            <a:avLst/>
          </a:prstGeom>
          <a:solidFill>
            <a:srgbClr val="3CB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3C3A"/>
                </a:solidFill>
              </a:defRPr>
            </a:pPr>
            <a:r>
              <a:t>Future Outlook and Strategic 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22221"/>
                </a:solidFill>
              </a:defRPr>
            </a:pPr>
            <a:r>
              <a:t>Continued focus on economic stability and growth</a:t>
            </a:r>
          </a:p>
          <a:p>
            <a:pPr>
              <a:spcAft>
                <a:spcPts val="800"/>
              </a:spcAft>
              <a:defRPr sz="2000">
                <a:solidFill>
                  <a:srgbClr val="122221"/>
                </a:solidFill>
              </a:defRPr>
            </a:pPr>
            <a:r>
              <a:t>Potential for further structural reforms</a:t>
            </a:r>
          </a:p>
          <a:p>
            <a:pPr>
              <a:spcAft>
                <a:spcPts val="800"/>
              </a:spcAft>
              <a:defRPr sz="2000">
                <a:solidFill>
                  <a:srgbClr val="122221"/>
                </a:solidFill>
              </a:defRPr>
            </a:pPr>
            <a:r>
              <a:t>Digital transformation initiatives gaining traction</a:t>
            </a:r>
          </a:p>
          <a:p>
            <a:pPr>
              <a:spcAft>
                <a:spcPts val="800"/>
              </a:spcAft>
              <a:defRPr sz="2000">
                <a:solidFill>
                  <a:srgbClr val="122221"/>
                </a:solidFill>
              </a:defRPr>
            </a:pPr>
            <a:r>
              <a:t>Strategic partnerships for mutual prosperity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080760"/>
            <a:ext cx="10881360" cy="128016"/>
          </a:xfrm>
          <a:prstGeom prst="rect">
            <a:avLst/>
          </a:prstGeom>
          <a:solidFill>
            <a:srgbClr val="3CB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241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6F0E8"/>
                </a:solidFill>
              </a:defRPr>
            </a:pPr>
            <a:r>
              <a:t>Thank you for your attention. We welcome your questions and look forward to fostering prosperous partnerships in Peru.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