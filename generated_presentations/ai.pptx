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we'll demystify AI and focus on its practical applications for our business. We'll start by establishing a clear understanding of what AI truly is and why it's no longer optional for competitive businesses, but a strategic imperative. We'll also briefly touch on the current landscape of AI adoption.</a:t>
            </a:r>
          </a:p>
          <a:p/>
          <a:p>
            <a:r>
              <a:t>Image credit: Taiki Ishikawa | Profile: https://unsplash.com/@fl__q?utm_source=ai_presentation_generator&amp;utm_medium=referral | Photo: https://unsplash.com/photos/a-robot-that-is-standing-in-the-air-PecQftb1ubg?utm_source=ai_presentation_generator&amp;utm_medium=referral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dive into the foundational technologies that power AI. We'll look at Machine Learning for data-driven predictions, NLP for understanding and generating human language, Computer Vision for interpreting visual data, and Intelligent Automation for process efficiency. Each offers unique opportunities for business transformation.</a:t>
            </a:r>
          </a:p>
          <a:p/>
          <a:p>
            <a:r>
              <a:t>Image credit: Fabio Henning | Profile: https://unsplash.com/@fabz97?utm_source=ai_presentation_generator&amp;utm_medium=referral | Photo: https://unsplash.com/photos/a-person-wearing-glasses-cPefgflphT4?utm_source=ai_presentation_generator&amp;utm_medium=referral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connect these technologies to tangible business benefits. We'll explore how AI enhances customer interactions, optimizes our internal operations, fuels new product development, and strengthens our risk management frameworks. These are not theoretical applications, but proven strategies in leading organizations.</a:t>
            </a:r>
          </a:p>
          <a:p/>
          <a:p>
            <a:r>
              <a:t>Image credit: Point Normal | Profile: https://unsplash.com/@normals?utm_source=ai_presentation_generator&amp;utm_medium=referral | Photo: https://unsplash.com/photos/white-king-stands-surrounded-by-black-pawns-ySqelMEEYx0?utm_source=ai_presentation_generator&amp;utm_medium=referral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crucial to understand the return on investment. AI isn't just about innovation; it's about measurable business outcomes. We'll discuss how AI leads to smarter decisions, reduces operational costs, unlocks new revenue streams, and ultimately provides a significant competitive edge.</a:t>
            </a:r>
          </a:p>
          <a:p/>
          <a:p>
            <a:r>
              <a:t>Image credit: Laurenz Kleinheider | Profile: https://unsplash.com/@laurlenz?utm_source=ai_presentation_generator&amp;utm_medium=referral | Photo: https://unsplash.com/photos/shallow-focus-photography-of-coin-operated-mono-scope-under-cloudy-sky-K40awqK-hTI?utm_source=ai_presentation_generator&amp;utm_medium=referral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Implementing AI isn't without its challenges, but they are surmountable with proper planning. We'll cover key considerations like data quality, building the right team, ethical implications, and how to effectively integrate AI into our current infrastructure to ensure successful, sustainable adoption.</a:t>
            </a:r>
          </a:p>
          <a:p/>
          <a:p>
            <a:r>
              <a:t>Image credit: Omar:. Lopez-Rincon | Profile: https://unsplash.com/@procopiopi?utm_source=ai_presentation_generator&amp;utm_medium=referral | Photo: https://unsplash.com/photos/ai-brain-inside-a-lightbulb-illustrates-an-idea-zips8ILZd04?utm_source=ai_presentation_generator&amp;utm_medium=referral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our focus should be on strategic integration. We need to identify high-impact pilot projects, create a clear roadmap, and embrace a culture of continuous learning to adapt to evolving AI capabilities. This proactive approach will ensure long-term growth and sustained innovation.</a:t>
            </a:r>
          </a:p>
          <a:p/>
          <a:p>
            <a:r>
              <a:t>Image credit: Growtika | Profile: https://unsplash.com/@growtika?utm_source=ai_presentation_generator&amp;utm_medium=referral | Photo: https://unsplash.com/photos/a-computer-generated-image-of-a-human-brain-3wXVwtdaESA?utm_source=ai_presentation_generator&amp;utm_medium=referral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F4858"/>
        </a:solidFill>
        <a:effectLst/>
      </p:bgPr>
    </p:bg>
    <p:spTree>
      <p:nvGrpSpPr>
        <p:cNvPr id="1" name=""/>
        <p:cNvGrpSpPr/>
        <p:nvPr/>
      </p:nvGrpSpPr>
      <p:grpSpPr/>
      <p:sp>
        <p:nvSpPr>
          <p:cNvPr id="2" name="Title 1"/>
          <p:cNvSpPr>
            <a:spLocks noGrp="1"/>
          </p:cNvSpPr>
          <p:nvPr>
            <p:ph type="ctrTitle"/>
          </p:nvPr>
        </p:nvSpPr>
        <p:spPr/>
        <p:txBody>
          <a:bodyPr/>
          <a:lstStyle/>
          <a:p>
            <a:pPr>
              <a:defRPr sz="2800" b="1">
                <a:solidFill>
                  <a:srgbClr val="FFFFFF"/>
                </a:solidFill>
              </a:defRPr>
            </a:pPr>
            <a:r>
              <a:t>Strategic AI Integration: Unlocking Future Business Value</a:t>
            </a:r>
          </a:p>
        </p:txBody>
      </p:sp>
      <p:sp>
        <p:nvSpPr>
          <p:cNvPr id="3" name="Subtitle 2"/>
          <p:cNvSpPr>
            <a:spLocks noGrp="1"/>
          </p:cNvSpPr>
          <p:nvPr>
            <p:ph type="subTitle" idx="1"/>
          </p:nvPr>
        </p:nvSpPr>
        <p:spPr/>
        <p:txBody>
          <a:bodyPr/>
          <a:lstStyle/>
          <a:p>
            <a:pPr>
              <a:defRPr sz="1600">
                <a:solidFill>
                  <a:srgbClr val="F6F0E8"/>
                </a:solidFill>
              </a:defRPr>
            </a:pPr>
            <a:r>
              <a:t>Explore how artificial intelligence can drive innovation, efficiency, and competitive advantage for your organization.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1E8"/>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2F4858"/>
                </a:solidFill>
              </a:defRPr>
            </a:pPr>
            <a:r>
              <a:t>The AI Imperative: Reshaping Business Landscapes</a:t>
            </a:r>
          </a:p>
        </p:txBody>
      </p:sp>
      <p:sp>
        <p:nvSpPr>
          <p:cNvPr id="3" name="TextBox 2"/>
          <p:cNvSpPr txBox="1"/>
          <p:nvPr/>
        </p:nvSpPr>
        <p:spPr>
          <a:xfrm>
            <a:off x="6126480" y="1234440"/>
            <a:ext cx="4754880" cy="4297680"/>
          </a:xfrm>
          <a:prstGeom prst="rect">
            <a:avLst/>
          </a:prstGeom>
          <a:noFill/>
        </p:spPr>
        <p:txBody>
          <a:bodyPr wrap="square">
            <a:spAutoFit/>
          </a:bodyPr>
          <a:lstStyle/>
          <a:p>
            <a:pPr>
              <a:spcAft>
                <a:spcPts val="800"/>
              </a:spcAft>
              <a:defRPr sz="2000">
                <a:solidFill>
                  <a:srgbClr val="1E252B"/>
                </a:solidFill>
              </a:defRPr>
            </a:pPr>
            <a:r>
              <a:t>Defining AI: Beyond the Hype</a:t>
            </a:r>
          </a:p>
          <a:p>
            <a:pPr>
              <a:spcAft>
                <a:spcPts val="800"/>
              </a:spcAft>
              <a:defRPr sz="2000">
                <a:solidFill>
                  <a:srgbClr val="1E252B"/>
                </a:solidFill>
              </a:defRPr>
            </a:pPr>
            <a:r>
              <a:t>Why AI is Critical for Modern Business</a:t>
            </a:r>
          </a:p>
          <a:p>
            <a:pPr>
              <a:spcAft>
                <a:spcPts val="800"/>
              </a:spcAft>
              <a:defRPr sz="2000">
                <a:solidFill>
                  <a:srgbClr val="1E252B"/>
                </a:solidFill>
              </a:defRPr>
            </a:pPr>
            <a:r>
              <a:t>Current State of AI Adoption and Impact</a:t>
            </a:r>
          </a:p>
        </p:txBody>
      </p:sp>
      <p:pic>
        <p:nvPicPr>
          <p:cNvPr id="4" name="Picture 3" descr="image.jpg"/>
          <p:cNvPicPr>
            <a:picLocks noChangeAspect="1"/>
          </p:cNvPicPr>
          <p:nvPr/>
        </p:nvPicPr>
        <p:blipFill>
          <a:blip r:embed="rId2"/>
          <a:stretch>
            <a:fillRect/>
          </a:stretch>
        </p:blipFill>
        <p:spPr>
          <a:xfrm>
            <a:off x="6400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2F4858"/>
                </a:solidFill>
              </a:defRPr>
            </a:pPr>
            <a:r>
              <a:t>Photo: Taiki Ishikawa on Unsplash</a:t>
            </a:r>
          </a:p>
        </p:txBody>
      </p:sp>
      <p:sp>
        <p:nvSpPr>
          <p:cNvPr id="6" name="Rectangle 5"/>
          <p:cNvSpPr/>
          <p:nvPr/>
        </p:nvSpPr>
        <p:spPr>
          <a:xfrm>
            <a:off x="640080" y="6080760"/>
            <a:ext cx="10881360" cy="128016"/>
          </a:xfrm>
          <a:prstGeom prst="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1E8"/>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2F4858"/>
                </a:solidFill>
              </a:defRPr>
            </a:pPr>
            <a:r>
              <a:t>Core AI Technologies Driving Innovation</a:t>
            </a:r>
          </a:p>
        </p:txBody>
      </p:sp>
      <p:sp>
        <p:nvSpPr>
          <p:cNvPr id="3" name="TextBox 2"/>
          <p:cNvSpPr txBox="1"/>
          <p:nvPr/>
        </p:nvSpPr>
        <p:spPr>
          <a:xfrm>
            <a:off x="640080" y="1234440"/>
            <a:ext cx="4754880" cy="4297680"/>
          </a:xfrm>
          <a:prstGeom prst="rect">
            <a:avLst/>
          </a:prstGeom>
          <a:noFill/>
        </p:spPr>
        <p:txBody>
          <a:bodyPr wrap="square">
            <a:spAutoFit/>
          </a:bodyPr>
          <a:lstStyle/>
          <a:p>
            <a:pPr>
              <a:spcAft>
                <a:spcPts val="800"/>
              </a:spcAft>
              <a:defRPr sz="2000">
                <a:solidFill>
                  <a:srgbClr val="1E252B"/>
                </a:solidFill>
              </a:defRPr>
            </a:pPr>
            <a:r>
              <a:t>Machine Learning: Predictive Analytics and Automation</a:t>
            </a:r>
          </a:p>
          <a:p>
            <a:pPr>
              <a:spcAft>
                <a:spcPts val="800"/>
              </a:spcAft>
              <a:defRPr sz="2000">
                <a:solidFill>
                  <a:srgbClr val="1E252B"/>
                </a:solidFill>
              </a:defRPr>
            </a:pPr>
            <a:r>
              <a:t>Natural Language Processing: Enhancing Communication</a:t>
            </a:r>
          </a:p>
          <a:p>
            <a:pPr>
              <a:spcAft>
                <a:spcPts val="800"/>
              </a:spcAft>
              <a:defRPr sz="2000">
                <a:solidFill>
                  <a:srgbClr val="1E252B"/>
                </a:solidFill>
              </a:defRPr>
            </a:pPr>
            <a:r>
              <a:t>Computer Vision: Intelligent Data Extraction</a:t>
            </a:r>
          </a:p>
          <a:p>
            <a:pPr>
              <a:spcAft>
                <a:spcPts val="800"/>
              </a:spcAft>
              <a:defRPr sz="2000">
                <a:solidFill>
                  <a:srgbClr val="1E252B"/>
                </a:solidFill>
              </a:defRPr>
            </a:pPr>
            <a:r>
              <a:t>Robotics &amp; Intelligent Automation: Streamlining Operations</a:t>
            </a:r>
          </a:p>
        </p:txBody>
      </p:sp>
      <p:pic>
        <p:nvPicPr>
          <p:cNvPr id="4" name="Picture 3" descr="image.jpg"/>
          <p:cNvPicPr>
            <a:picLocks noChangeAspect="1"/>
          </p:cNvPicPr>
          <p:nvPr/>
        </p:nvPicPr>
        <p:blipFill>
          <a:blip r:embed="rId2"/>
          <a:stretch>
            <a:fillRect/>
          </a:stretch>
        </p:blipFill>
        <p:spPr>
          <a:xfrm>
            <a:off x="61264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2F4858"/>
                </a:solidFill>
              </a:defRPr>
            </a:pPr>
            <a:r>
              <a:t>Photo: Fabio Henning on Unsplash</a:t>
            </a:r>
          </a:p>
        </p:txBody>
      </p:sp>
      <p:sp>
        <p:nvSpPr>
          <p:cNvPr id="6" name="Rectangle 5"/>
          <p:cNvSpPr/>
          <p:nvPr/>
        </p:nvSpPr>
        <p:spPr>
          <a:xfrm>
            <a:off x="640080" y="6080760"/>
            <a:ext cx="10881360" cy="128016"/>
          </a:xfrm>
          <a:prstGeom prst="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1E8"/>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2F4858"/>
                </a:solidFill>
              </a:defRPr>
            </a:pPr>
            <a:r>
              <a:t>Strategic Applications: AI Across Business Functions</a:t>
            </a:r>
          </a:p>
        </p:txBody>
      </p:sp>
      <p:sp>
        <p:nvSpPr>
          <p:cNvPr id="3" name="TextBox 2"/>
          <p:cNvSpPr txBox="1"/>
          <p:nvPr/>
        </p:nvSpPr>
        <p:spPr>
          <a:xfrm>
            <a:off x="6126480" y="1234440"/>
            <a:ext cx="4754880" cy="4297680"/>
          </a:xfrm>
          <a:prstGeom prst="rect">
            <a:avLst/>
          </a:prstGeom>
          <a:noFill/>
        </p:spPr>
        <p:txBody>
          <a:bodyPr wrap="square">
            <a:spAutoFit/>
          </a:bodyPr>
          <a:lstStyle/>
          <a:p>
            <a:pPr>
              <a:spcAft>
                <a:spcPts val="800"/>
              </a:spcAft>
              <a:defRPr sz="2000">
                <a:solidFill>
                  <a:srgbClr val="1E252B"/>
                </a:solidFill>
              </a:defRPr>
            </a:pPr>
            <a:r>
              <a:t>Customer Experience: Personalization and Support</a:t>
            </a:r>
          </a:p>
          <a:p>
            <a:pPr>
              <a:spcAft>
                <a:spcPts val="800"/>
              </a:spcAft>
              <a:defRPr sz="2000">
                <a:solidFill>
                  <a:srgbClr val="1E252B"/>
                </a:solidFill>
              </a:defRPr>
            </a:pPr>
            <a:r>
              <a:t>Operational Efficiency: Supply Chain and Process Optimization</a:t>
            </a:r>
          </a:p>
          <a:p>
            <a:pPr>
              <a:spcAft>
                <a:spcPts val="800"/>
              </a:spcAft>
              <a:defRPr sz="2000">
                <a:solidFill>
                  <a:srgbClr val="1E252B"/>
                </a:solidFill>
              </a:defRPr>
            </a:pPr>
            <a:r>
              <a:t>Product Development: Innovation and Market Insights</a:t>
            </a:r>
          </a:p>
          <a:p>
            <a:pPr>
              <a:spcAft>
                <a:spcPts val="800"/>
              </a:spcAft>
              <a:defRPr sz="2000">
                <a:solidFill>
                  <a:srgbClr val="1E252B"/>
                </a:solidFill>
              </a:defRPr>
            </a:pPr>
            <a:r>
              <a:t>Risk Management: Fraud Detection and Compliance</a:t>
            </a:r>
          </a:p>
        </p:txBody>
      </p:sp>
      <p:pic>
        <p:nvPicPr>
          <p:cNvPr id="4" name="Picture 3" descr="image.jpg"/>
          <p:cNvPicPr>
            <a:picLocks noChangeAspect="1"/>
          </p:cNvPicPr>
          <p:nvPr/>
        </p:nvPicPr>
        <p:blipFill>
          <a:blip r:embed="rId2"/>
          <a:stretch>
            <a:fillRect/>
          </a:stretch>
        </p:blipFill>
        <p:spPr>
          <a:xfrm>
            <a:off x="6400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2F4858"/>
                </a:solidFill>
              </a:defRPr>
            </a:pPr>
            <a:r>
              <a:t>Photo: Point Normal on Unsplash</a:t>
            </a:r>
          </a:p>
        </p:txBody>
      </p:sp>
      <p:sp>
        <p:nvSpPr>
          <p:cNvPr id="6" name="Rectangle 5"/>
          <p:cNvSpPr/>
          <p:nvPr/>
        </p:nvSpPr>
        <p:spPr>
          <a:xfrm>
            <a:off x="640080" y="6080760"/>
            <a:ext cx="10881360" cy="128016"/>
          </a:xfrm>
          <a:prstGeom prst="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1E8"/>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2F4858"/>
                </a:solidFill>
              </a:defRPr>
            </a:pPr>
            <a:r>
              <a:t>Quantifying Success: Measuring AI's Tangible ROI</a:t>
            </a:r>
          </a:p>
        </p:txBody>
      </p:sp>
      <p:sp>
        <p:nvSpPr>
          <p:cNvPr id="3" name="TextBox 2"/>
          <p:cNvSpPr txBox="1"/>
          <p:nvPr/>
        </p:nvSpPr>
        <p:spPr>
          <a:xfrm>
            <a:off x="640080" y="1234440"/>
            <a:ext cx="4754880" cy="4297680"/>
          </a:xfrm>
          <a:prstGeom prst="rect">
            <a:avLst/>
          </a:prstGeom>
          <a:noFill/>
        </p:spPr>
        <p:txBody>
          <a:bodyPr wrap="square">
            <a:spAutoFit/>
          </a:bodyPr>
          <a:lstStyle/>
          <a:p>
            <a:pPr>
              <a:spcAft>
                <a:spcPts val="800"/>
              </a:spcAft>
              <a:defRPr sz="2000">
                <a:solidFill>
                  <a:srgbClr val="1E252B"/>
                </a:solidFill>
              </a:defRPr>
            </a:pPr>
            <a:r>
              <a:t>Enhanced Decision-Making through Data Insights</a:t>
            </a:r>
          </a:p>
          <a:p>
            <a:pPr>
              <a:spcAft>
                <a:spcPts val="800"/>
              </a:spcAft>
              <a:defRPr sz="2000">
                <a:solidFill>
                  <a:srgbClr val="1E252B"/>
                </a:solidFill>
              </a:defRPr>
            </a:pPr>
            <a:r>
              <a:t>Significant Cost Reduction and Operational Savings</a:t>
            </a:r>
          </a:p>
          <a:p>
            <a:pPr>
              <a:spcAft>
                <a:spcPts val="800"/>
              </a:spcAft>
              <a:defRPr sz="2000">
                <a:solidFill>
                  <a:srgbClr val="1E252B"/>
                </a:solidFill>
              </a:defRPr>
            </a:pPr>
            <a:r>
              <a:t>Accelerated Revenue Growth and New Market Opportunities</a:t>
            </a:r>
          </a:p>
          <a:p>
            <a:pPr>
              <a:spcAft>
                <a:spcPts val="800"/>
              </a:spcAft>
              <a:defRPr sz="2000">
                <a:solidFill>
                  <a:srgbClr val="1E252B"/>
                </a:solidFill>
              </a:defRPr>
            </a:pPr>
            <a:r>
              <a:t>Sustainable Competitive Advantage in a Dynamic Market</a:t>
            </a:r>
          </a:p>
        </p:txBody>
      </p:sp>
      <p:pic>
        <p:nvPicPr>
          <p:cNvPr id="4" name="Picture 3" descr="image.jpg"/>
          <p:cNvPicPr>
            <a:picLocks noChangeAspect="1"/>
          </p:cNvPicPr>
          <p:nvPr/>
        </p:nvPicPr>
        <p:blipFill>
          <a:blip r:embed="rId2"/>
          <a:stretch>
            <a:fillRect/>
          </a:stretch>
        </p:blipFill>
        <p:spPr>
          <a:xfrm>
            <a:off x="61264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2F4858"/>
                </a:solidFill>
              </a:defRPr>
            </a:pPr>
            <a:r>
              <a:t>Photo: Laurenz Kleinheider on Unsplash</a:t>
            </a:r>
          </a:p>
        </p:txBody>
      </p:sp>
      <p:sp>
        <p:nvSpPr>
          <p:cNvPr id="6" name="Rectangle 5"/>
          <p:cNvSpPr/>
          <p:nvPr/>
        </p:nvSpPr>
        <p:spPr>
          <a:xfrm>
            <a:off x="640080" y="6080760"/>
            <a:ext cx="10881360" cy="128016"/>
          </a:xfrm>
          <a:prstGeom prst="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1E8"/>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2F4858"/>
                </a:solidFill>
              </a:defRPr>
            </a:pPr>
            <a:r>
              <a:t>Navigating the AI Journey: Challenges and Best Practices</a:t>
            </a:r>
          </a:p>
        </p:txBody>
      </p:sp>
      <p:sp>
        <p:nvSpPr>
          <p:cNvPr id="3" name="TextBox 2"/>
          <p:cNvSpPr txBox="1"/>
          <p:nvPr/>
        </p:nvSpPr>
        <p:spPr>
          <a:xfrm>
            <a:off x="6126480" y="1234440"/>
            <a:ext cx="4754880" cy="4297680"/>
          </a:xfrm>
          <a:prstGeom prst="rect">
            <a:avLst/>
          </a:prstGeom>
          <a:noFill/>
        </p:spPr>
        <p:txBody>
          <a:bodyPr wrap="square">
            <a:spAutoFit/>
          </a:bodyPr>
          <a:lstStyle/>
          <a:p>
            <a:pPr>
              <a:spcAft>
                <a:spcPts val="800"/>
              </a:spcAft>
              <a:defRPr sz="2000">
                <a:solidFill>
                  <a:srgbClr val="1E252B"/>
                </a:solidFill>
              </a:defRPr>
            </a:pPr>
            <a:r>
              <a:t>Addressing Data Quality and Governance</a:t>
            </a:r>
          </a:p>
          <a:p>
            <a:pPr>
              <a:spcAft>
                <a:spcPts val="800"/>
              </a:spcAft>
              <a:defRPr sz="2000">
                <a:solidFill>
                  <a:srgbClr val="1E252B"/>
                </a:solidFill>
              </a:defRPr>
            </a:pPr>
            <a:r>
              <a:t>Cultivating an AI-Ready Culture and Talent Pool</a:t>
            </a:r>
          </a:p>
          <a:p>
            <a:pPr>
              <a:spcAft>
                <a:spcPts val="800"/>
              </a:spcAft>
              <a:defRPr sz="2000">
                <a:solidFill>
                  <a:srgbClr val="1E252B"/>
                </a:solidFill>
              </a:defRPr>
            </a:pPr>
            <a:r>
              <a:t>Ethical AI: Ensuring Responsible Implementation</a:t>
            </a:r>
          </a:p>
          <a:p>
            <a:pPr>
              <a:spcAft>
                <a:spcPts val="800"/>
              </a:spcAft>
              <a:defRPr sz="2000">
                <a:solidFill>
                  <a:srgbClr val="1E252B"/>
                </a:solidFill>
              </a:defRPr>
            </a:pPr>
            <a:r>
              <a:t>Scalability and Integration into Existing Systems</a:t>
            </a:r>
          </a:p>
        </p:txBody>
      </p:sp>
      <p:pic>
        <p:nvPicPr>
          <p:cNvPr id="4" name="Picture 3" descr="image.jpg"/>
          <p:cNvPicPr>
            <a:picLocks noChangeAspect="1"/>
          </p:cNvPicPr>
          <p:nvPr/>
        </p:nvPicPr>
        <p:blipFill>
          <a:blip r:embed="rId2"/>
          <a:stretch>
            <a:fillRect/>
          </a:stretch>
        </p:blipFill>
        <p:spPr>
          <a:xfrm>
            <a:off x="6400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2F4858"/>
                </a:solidFill>
              </a:defRPr>
            </a:pPr>
            <a:r>
              <a:t>Photo: Omar:. Lopez-Rincon on Unsplash</a:t>
            </a:r>
          </a:p>
        </p:txBody>
      </p:sp>
      <p:sp>
        <p:nvSpPr>
          <p:cNvPr id="6" name="Rectangle 5"/>
          <p:cNvSpPr/>
          <p:nvPr/>
        </p:nvSpPr>
        <p:spPr>
          <a:xfrm>
            <a:off x="640080" y="6080760"/>
            <a:ext cx="10881360" cy="128016"/>
          </a:xfrm>
          <a:prstGeom prst="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1E8"/>
        </a:solidFill>
        <a:effectLst/>
      </p:bgPr>
    </p:bg>
    <p:spTree>
      <p:nvGrpSpPr>
        <p:cNvPr id="1" name=""/>
        <p:cNvGrpSpPr/>
        <p:nvPr/>
      </p:nvGrpSpPr>
      <p:grpSpPr/>
      <p:sp>
        <p:nvSpPr>
          <p:cNvPr id="2" name="TextBox 1"/>
          <p:cNvSpPr txBox="1"/>
          <p:nvPr/>
        </p:nvSpPr>
        <p:spPr>
          <a:xfrm>
            <a:off x="640080" y="411480"/>
            <a:ext cx="10972800" cy="594360"/>
          </a:xfrm>
          <a:prstGeom prst="rect">
            <a:avLst/>
          </a:prstGeom>
          <a:noFill/>
        </p:spPr>
        <p:txBody>
          <a:bodyPr wrap="none">
            <a:spAutoFit/>
          </a:bodyPr>
          <a:lstStyle/>
          <a:p>
            <a:pPr>
              <a:defRPr sz="2400" b="1">
                <a:solidFill>
                  <a:srgbClr val="2F4858"/>
                </a:solidFill>
              </a:defRPr>
            </a:pPr>
            <a:r>
              <a:t>The Road Ahead: Strategic AI Integration for Future Growth</a:t>
            </a:r>
          </a:p>
        </p:txBody>
      </p:sp>
      <p:sp>
        <p:nvSpPr>
          <p:cNvPr id="3" name="TextBox 2"/>
          <p:cNvSpPr txBox="1"/>
          <p:nvPr/>
        </p:nvSpPr>
        <p:spPr>
          <a:xfrm>
            <a:off x="640080" y="1234440"/>
            <a:ext cx="4754880" cy="4297680"/>
          </a:xfrm>
          <a:prstGeom prst="rect">
            <a:avLst/>
          </a:prstGeom>
          <a:noFill/>
        </p:spPr>
        <p:txBody>
          <a:bodyPr wrap="square">
            <a:spAutoFit/>
          </a:bodyPr>
          <a:lstStyle/>
          <a:p>
            <a:pPr>
              <a:spcAft>
                <a:spcPts val="800"/>
              </a:spcAft>
              <a:defRPr sz="2000">
                <a:solidFill>
                  <a:srgbClr val="1E252B"/>
                </a:solidFill>
              </a:defRPr>
            </a:pPr>
            <a:r>
              <a:t>Identifying Key Areas for Pilot Programs</a:t>
            </a:r>
          </a:p>
          <a:p>
            <a:pPr>
              <a:spcAft>
                <a:spcPts val="800"/>
              </a:spcAft>
              <a:defRPr sz="2000">
                <a:solidFill>
                  <a:srgbClr val="1E252B"/>
                </a:solidFill>
              </a:defRPr>
            </a:pPr>
            <a:r>
              <a:t>Developing a Phased Implementation Roadmap</a:t>
            </a:r>
          </a:p>
          <a:p>
            <a:pPr>
              <a:spcAft>
                <a:spcPts val="800"/>
              </a:spcAft>
              <a:defRPr sz="2000">
                <a:solidFill>
                  <a:srgbClr val="1E252B"/>
                </a:solidFill>
              </a:defRPr>
            </a:pPr>
            <a:r>
              <a:t>Continuous Learning and Adaptation</a:t>
            </a:r>
          </a:p>
          <a:p>
            <a:pPr>
              <a:spcAft>
                <a:spcPts val="800"/>
              </a:spcAft>
              <a:defRPr sz="2000">
                <a:solidFill>
                  <a:srgbClr val="1E252B"/>
                </a:solidFill>
              </a:defRPr>
            </a:pPr>
            <a:r>
              <a:t>Fostering an Innovation Ecosystem</a:t>
            </a:r>
          </a:p>
        </p:txBody>
      </p:sp>
      <p:pic>
        <p:nvPicPr>
          <p:cNvPr id="4" name="Picture 3" descr="image.jpg"/>
          <p:cNvPicPr>
            <a:picLocks noChangeAspect="1"/>
          </p:cNvPicPr>
          <p:nvPr/>
        </p:nvPicPr>
        <p:blipFill>
          <a:blip r:embed="rId2"/>
          <a:stretch>
            <a:fillRect/>
          </a:stretch>
        </p:blipFill>
        <p:spPr>
          <a:xfrm>
            <a:off x="6126480" y="1234440"/>
            <a:ext cx="4754880" cy="3566160"/>
          </a:xfrm>
          <a:prstGeom prst="rect">
            <a:avLst/>
          </a:prstGeom>
        </p:spPr>
      </p:pic>
      <p:sp>
        <p:nvSpPr>
          <p:cNvPr id="5" name="TextBox 4"/>
          <p:cNvSpPr txBox="1"/>
          <p:nvPr/>
        </p:nvSpPr>
        <p:spPr>
          <a:xfrm>
            <a:off x="548640" y="6400800"/>
            <a:ext cx="10972800" cy="228600"/>
          </a:xfrm>
          <a:prstGeom prst="rect">
            <a:avLst/>
          </a:prstGeom>
          <a:noFill/>
        </p:spPr>
        <p:txBody>
          <a:bodyPr wrap="none">
            <a:spAutoFit/>
          </a:bodyPr>
          <a:lstStyle/>
          <a:p>
            <a:pPr>
              <a:defRPr sz="800">
                <a:solidFill>
                  <a:srgbClr val="2F4858"/>
                </a:solidFill>
              </a:defRPr>
            </a:pPr>
            <a:r>
              <a:t>Photo: Growtika on Unsplash</a:t>
            </a:r>
          </a:p>
        </p:txBody>
      </p:sp>
      <p:sp>
        <p:nvSpPr>
          <p:cNvPr id="6" name="Rectangle 5"/>
          <p:cNvSpPr/>
          <p:nvPr/>
        </p:nvSpPr>
        <p:spPr>
          <a:xfrm>
            <a:off x="640080" y="6080760"/>
            <a:ext cx="10881360" cy="128016"/>
          </a:xfrm>
          <a:prstGeom prst="rect">
            <a:avLst/>
          </a:prstGeom>
          <a:solidFill>
            <a:srgbClr val="D97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F4858"/>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FFFFFF"/>
                </a:solidFill>
              </a:defRPr>
            </a:pPr>
            <a:r>
              <a:t>Thank You</a:t>
            </a:r>
          </a:p>
        </p:txBody>
      </p:sp>
      <p:sp>
        <p:nvSpPr>
          <p:cNvPr id="3" name="TextBox 2"/>
          <p:cNvSpPr txBox="1"/>
          <p:nvPr/>
        </p:nvSpPr>
        <p:spPr>
          <a:xfrm>
            <a:off x="822960" y="2194560"/>
            <a:ext cx="10241280" cy="1280160"/>
          </a:xfrm>
          <a:prstGeom prst="rect">
            <a:avLst/>
          </a:prstGeom>
          <a:noFill/>
        </p:spPr>
        <p:txBody>
          <a:bodyPr wrap="none">
            <a:spAutoFit/>
          </a:bodyPr>
          <a:lstStyle/>
          <a:p>
            <a:pPr>
              <a:defRPr sz="2000">
                <a:solidFill>
                  <a:srgbClr val="F6F0E8"/>
                </a:solidFill>
              </a:defRPr>
            </a:pPr>
            <a:r>
              <a:t>Thank you for your time and attention. Let's harness the power of AI to build a more intelligent and prosperous future for our business.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